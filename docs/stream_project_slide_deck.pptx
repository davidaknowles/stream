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229600" cy="10058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800" b="1">
                <a:solidFill>
                  <a:srgbClr val="20252A"/>
                </a:solidFill>
                <a:latin typeface="Aptos"/>
              </a:rPr>
              <a:t>STREAM learns developmental vector fields from cell state and regulatory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1261872"/>
            <a:ext cx="82296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1500" b="0">
                <a:solidFill>
                  <a:srgbClr val="5C6773"/>
                </a:solidFill>
                <a:latin typeface="Aptos"/>
              </a:rPr>
              <a:t>Multi-timepoint CFM + CRE sequence conditioning + UCE cell-state embeddings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13232" y="2240280"/>
            <a:ext cx="2057400" cy="960120"/>
          </a:xfrm>
          <a:prstGeom prst="roundRect">
            <a:avLst/>
          </a:prstGeom>
          <a:solidFill>
            <a:srgbClr val="E1EBF7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Time-resolved
single-cell atlas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46120" y="2240280"/>
            <a:ext cx="2057400" cy="960120"/>
          </a:xfrm>
          <a:prstGeom prst="roundRect">
            <a:avLst/>
          </a:prstGeom>
          <a:solidFill>
            <a:srgbClr val="F9EECF"/>
          </a:solidFill>
          <a:ln w="1397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Regulatory DNA
cCRE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79008" y="2240280"/>
            <a:ext cx="2057400" cy="96012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UCE or expression
cell state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321040" y="2240280"/>
            <a:ext cx="205740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Gene velocity
field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770632" y="2724912"/>
            <a:ext cx="475488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303520" y="2724912"/>
            <a:ext cx="475488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36408" y="2724912"/>
            <a:ext cx="484632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22960" y="4663440"/>
            <a:ext cx="2011680" cy="960120"/>
          </a:xfrm>
          <a:prstGeom prst="rect">
            <a:avLst/>
          </a:prstGeom>
          <a:solidFill>
            <a:srgbClr val="E1EBF7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0">
                <a:solidFill>
                  <a:srgbClr val="20252A"/>
                </a:solidFill>
                <a:latin typeface="Aptos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4791455"/>
            <a:ext cx="1901952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0252A"/>
                </a:solidFill>
                <a:latin typeface="Aptos"/>
              </a:rPr>
              <a:t>11.44M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5193792"/>
            <a:ext cx="186537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Aptos"/>
              </a:rPr>
              <a:t>mouse atlas cells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54680" y="4663440"/>
            <a:ext cx="2011680" cy="960120"/>
          </a:xfrm>
          <a:prstGeom prst="rect">
            <a:avLst/>
          </a:prstGeom>
          <a:solidFill>
            <a:srgbClr val="E1EBF7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0">
                <a:solidFill>
                  <a:srgbClr val="20252A"/>
                </a:solidFill>
                <a:latin typeface="Aptos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9544" y="4791455"/>
            <a:ext cx="1901952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0252A"/>
                </a:solidFill>
                <a:latin typeface="Aptos"/>
              </a:rPr>
              <a:t>1.23M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27832" y="5193792"/>
            <a:ext cx="186537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Aptos"/>
              </a:rPr>
              <a:t>zebrafish control cells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4663440"/>
            <a:ext cx="2011680" cy="960120"/>
          </a:xfrm>
          <a:prstGeom prst="rect">
            <a:avLst/>
          </a:prstGeom>
          <a:solidFill>
            <a:srgbClr val="F9EECF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0">
                <a:solidFill>
                  <a:srgbClr val="20252A"/>
                </a:solidFill>
                <a:latin typeface="Aptos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41264" y="4791455"/>
            <a:ext cx="1901952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0252A"/>
                </a:solidFill>
                <a:latin typeface="Aptos"/>
              </a:rPr>
              <a:t>10k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59552" y="5193792"/>
            <a:ext cx="186537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Aptos"/>
              </a:rPr>
              <a:t>modeled genes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4663440"/>
            <a:ext cx="2743200" cy="960120"/>
          </a:xfrm>
          <a:prstGeom prst="rect">
            <a:avLst/>
          </a:prstGeom>
          <a:solidFill>
            <a:srgbClr val="E0F1E5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0">
                <a:solidFill>
                  <a:srgbClr val="20252A"/>
                </a:solidFill>
                <a:latin typeface="Aptos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72984" y="4791455"/>
            <a:ext cx="2633472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0252A"/>
                </a:solidFill>
                <a:latin typeface="Aptos"/>
              </a:rPr>
              <a:t>UCE + cross-attn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91272" y="5193792"/>
            <a:ext cx="259689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Aptos"/>
              </a:rPr>
              <a:t>best mouse model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Development is observed as snapshots, but the target is a continuous vector field</a:t>
            </a:r>
          </a:p>
        </p:txBody>
      </p:sp>
      <p:pic>
        <p:nvPicPr>
          <p:cNvPr id="3" name="Picture 2" descr="full_umap_by_major_traject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22366"/>
            <a:ext cx="5394960" cy="4125330"/>
          </a:xfrm>
          <a:prstGeom prst="rect">
            <a:avLst/>
          </a:prstGeom>
        </p:spPr>
      </p:pic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126480" y="1143000"/>
          <a:ext cx="544068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06780"/>
                <a:gridCol w="906780"/>
                <a:gridCol w="906780"/>
                <a:gridCol w="906780"/>
                <a:gridCol w="906780"/>
                <a:gridCol w="9067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Species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Cells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Timepoints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Held out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Genes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ptos"/>
                        </a:rPr>
                        <a:t>CRE tokens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Mouse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11.44M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E9.5, E10.5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5k / 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318k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Zebrafish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1.23M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18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36, 72 hpf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10k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>
                          <a:solidFill>
                            <a:srgbClr val="20252A"/>
                          </a:solidFill>
                          <a:latin typeface="Aptos"/>
                        </a:rPr>
                        <a:t>318k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6400800" y="3154680"/>
            <a:ext cx="4617720" cy="658368"/>
          </a:xfrm>
          <a:prstGeom prst="roundRect">
            <a:avLst/>
          </a:prstGeom>
          <a:solidFill>
            <a:srgbClr val="F9E0DC"/>
          </a:solidFill>
          <a:ln w="13970">
            <a:solidFill>
              <a:srgbClr val="BE4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Held-out timepoints test temporal interpolation around missing stages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4069080"/>
            <a:ext cx="4617720" cy="74980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200" b="0">
                <a:solidFill>
                  <a:srgbClr val="20252A"/>
                </a:solidFill>
                <a:latin typeface="Aptos"/>
              </a:rPr>
              <a:t>The same output space is used for CFM and STREAM, so sequence conditioning is the isolated change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5074920"/>
            <a:ext cx="461772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200" b="0">
                <a:solidFill>
                  <a:srgbClr val="20252A"/>
                </a:solidFill>
                <a:latin typeface="Aptos"/>
              </a:rPr>
              <a:t>Cross-species tests swap regulatory sequence and UCE gene tokens while retaining expression-valued targets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Multi-timepoint CFM trains on adjacent intervals and scores intervals touching held-out stages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74980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0">
                <a:solidFill>
                  <a:srgbClr val="20252A"/>
                </a:solidFill>
                <a:latin typeface="Aptos"/>
              </a:rPr>
              <a:t>E8.5</a:t>
            </a:r>
          </a:p>
        </p:txBody>
      </p:sp>
      <p:sp>
        <p:nvSpPr>
          <p:cNvPr id="4" name="Rectangle 3"/>
          <p:cNvSpPr/>
          <p:nvPr/>
        </p:nvSpPr>
        <p:spPr>
          <a:xfrm>
            <a:off x="1874519" y="2148840"/>
            <a:ext cx="74980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0">
                <a:solidFill>
                  <a:srgbClr val="20252A"/>
                </a:solidFill>
                <a:latin typeface="Aptos"/>
              </a:rPr>
              <a:t>E8.75</a:t>
            </a:r>
          </a:p>
        </p:txBody>
      </p:sp>
      <p:sp>
        <p:nvSpPr>
          <p:cNvPr id="5" name="Rectangle 4"/>
          <p:cNvSpPr/>
          <p:nvPr/>
        </p:nvSpPr>
        <p:spPr>
          <a:xfrm>
            <a:off x="2926080" y="2148840"/>
            <a:ext cx="74980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0">
                <a:solidFill>
                  <a:srgbClr val="20252A"/>
                </a:solidFill>
                <a:latin typeface="Aptos"/>
              </a:rPr>
              <a:t>E9.0</a:t>
            </a:r>
          </a:p>
        </p:txBody>
      </p:sp>
      <p:sp>
        <p:nvSpPr>
          <p:cNvPr id="6" name="Rectangle 5"/>
          <p:cNvSpPr/>
          <p:nvPr/>
        </p:nvSpPr>
        <p:spPr>
          <a:xfrm>
            <a:off x="3977639" y="2148840"/>
            <a:ext cx="74980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0">
                <a:solidFill>
                  <a:srgbClr val="20252A"/>
                </a:solidFill>
                <a:latin typeface="Aptos"/>
              </a:rPr>
              <a:t>E9.25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0" y="2148840"/>
            <a:ext cx="749808" cy="438912"/>
          </a:xfrm>
          <a:prstGeom prst="rect">
            <a:avLst/>
          </a:prstGeom>
          <a:solidFill>
            <a:srgbClr val="F9E0DC"/>
          </a:solidFill>
          <a:ln w="13970">
            <a:solidFill>
              <a:srgbClr val="BE4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20252A"/>
                </a:solidFill>
                <a:latin typeface="Aptos"/>
              </a:rPr>
              <a:t>E9.5</a:t>
            </a:r>
          </a:p>
        </p:txBody>
      </p:sp>
      <p:sp>
        <p:nvSpPr>
          <p:cNvPr id="8" name="Rectangle 7"/>
          <p:cNvSpPr/>
          <p:nvPr/>
        </p:nvSpPr>
        <p:spPr>
          <a:xfrm>
            <a:off x="6080760" y="2148840"/>
            <a:ext cx="74980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0">
                <a:solidFill>
                  <a:srgbClr val="20252A"/>
                </a:solidFill>
                <a:latin typeface="Aptos"/>
              </a:rPr>
              <a:t>E9.75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148840"/>
            <a:ext cx="74980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0">
                <a:solidFill>
                  <a:srgbClr val="20252A"/>
                </a:solidFill>
                <a:latin typeface="Aptos"/>
              </a:rPr>
              <a:t>E10.0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83879" y="2148840"/>
            <a:ext cx="74980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0">
                <a:solidFill>
                  <a:srgbClr val="20252A"/>
                </a:solidFill>
                <a:latin typeface="Aptos"/>
              </a:rPr>
              <a:t>E10.25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235440" y="2148840"/>
            <a:ext cx="749808" cy="438912"/>
          </a:xfrm>
          <a:prstGeom prst="rect">
            <a:avLst/>
          </a:prstGeom>
          <a:solidFill>
            <a:srgbClr val="F9E0DC"/>
          </a:solidFill>
          <a:ln w="13970">
            <a:solidFill>
              <a:srgbClr val="BE4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1">
                <a:solidFill>
                  <a:srgbClr val="20252A"/>
                </a:solidFill>
                <a:latin typeface="Aptos"/>
              </a:rPr>
              <a:t>E10.5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287000" y="2148840"/>
            <a:ext cx="749808" cy="438912"/>
          </a:xfrm>
          <a:prstGeom prst="rect">
            <a:avLst/>
          </a:prstGeom>
          <a:solidFill>
            <a:srgbClr val="FFFFFF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000" b="0">
                <a:solidFill>
                  <a:srgbClr val="20252A"/>
                </a:solidFill>
                <a:latin typeface="Aptos"/>
              </a:rPr>
              <a:t>E10.75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72768" y="2368296"/>
            <a:ext cx="301751" cy="0"/>
          </a:xfrm>
          <a:prstGeom prst="line">
            <a:avLst/>
          </a:prstGeom>
          <a:ln w="27940">
            <a:solidFill>
              <a:srgbClr val="539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624327" y="2368296"/>
            <a:ext cx="301753" cy="0"/>
          </a:xfrm>
          <a:prstGeom prst="line">
            <a:avLst/>
          </a:prstGeom>
          <a:ln w="27940">
            <a:solidFill>
              <a:srgbClr val="539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3675888" y="2368296"/>
            <a:ext cx="301751" cy="0"/>
          </a:xfrm>
          <a:prstGeom prst="line">
            <a:avLst/>
          </a:prstGeom>
          <a:ln w="27940">
            <a:solidFill>
              <a:srgbClr val="539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4727448" y="2368296"/>
            <a:ext cx="301752" cy="0"/>
          </a:xfrm>
          <a:prstGeom prst="line">
            <a:avLst/>
          </a:prstGeom>
          <a:ln w="27940">
            <a:solidFill>
              <a:srgbClr val="BE4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5779008" y="2368296"/>
            <a:ext cx="301752" cy="0"/>
          </a:xfrm>
          <a:prstGeom prst="line">
            <a:avLst/>
          </a:prstGeom>
          <a:ln w="27940">
            <a:solidFill>
              <a:srgbClr val="BE4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30568" y="2368296"/>
            <a:ext cx="301752" cy="0"/>
          </a:xfrm>
          <a:prstGeom prst="line">
            <a:avLst/>
          </a:prstGeom>
          <a:ln w="27940">
            <a:solidFill>
              <a:srgbClr val="539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7882127" y="2368296"/>
            <a:ext cx="301752" cy="0"/>
          </a:xfrm>
          <a:prstGeom prst="line">
            <a:avLst/>
          </a:prstGeom>
          <a:ln w="27940">
            <a:solidFill>
              <a:srgbClr val="539A5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8933688" y="2368296"/>
            <a:ext cx="301752" cy="0"/>
          </a:xfrm>
          <a:prstGeom prst="line">
            <a:avLst/>
          </a:prstGeom>
          <a:ln w="27940">
            <a:solidFill>
              <a:srgbClr val="BE4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9985248" y="2368296"/>
            <a:ext cx="301752" cy="0"/>
          </a:xfrm>
          <a:prstGeom prst="line">
            <a:avLst/>
          </a:prstGeom>
          <a:ln w="27940">
            <a:solidFill>
              <a:srgbClr val="BE4B4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103120" y="2788920"/>
            <a:ext cx="7863840" cy="22860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Aptos"/>
              </a:rPr>
              <a:t>green = trained adjacent intervals     red = held-out-touching evaluation intervals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3886200"/>
            <a:ext cx="2011680" cy="640080"/>
          </a:xfrm>
          <a:prstGeom prst="roundRect">
            <a:avLst/>
          </a:prstGeom>
          <a:solidFill>
            <a:srgbClr val="E1EBF7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1. sample cells at t_k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154680" y="3886200"/>
            <a:ext cx="2103120" cy="640080"/>
          </a:xfrm>
          <a:prstGeom prst="roundRect">
            <a:avLst/>
          </a:prstGeom>
          <a:solidFill>
            <a:srgbClr val="F9EECF"/>
          </a:solidFill>
          <a:ln w="1397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2. minibatch OT pairs cells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577840" y="3886200"/>
            <a:ext cx="2240280" cy="64008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3. interpolate x_t at random tau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38160" y="3886200"/>
            <a:ext cx="2743200" cy="6400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4. regress velocity (x_1 - x_0) / dt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2834640" y="4206240"/>
            <a:ext cx="32004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5257800" y="4206240"/>
            <a:ext cx="32004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7818120" y="4206240"/>
            <a:ext cx="32004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60120" y="5257800"/>
            <a:ext cx="1005840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0252A"/>
                </a:solidFill>
                <a:latin typeface="Aptos"/>
              </a:rPr>
              <a:t>One vector field is fit across all training intervals; no ODE rollout is needed during fitting.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STREAM predicts each gene velocity from global cell state and local regulatory tokens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2651760"/>
            <a:ext cx="1645920" cy="86868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cell state
x_t or u_t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645920" cy="868680"/>
          </a:xfrm>
          <a:prstGeom prst="roundRect">
            <a:avLst/>
          </a:prstGeom>
          <a:solidFill>
            <a:srgbClr val="F9EECF"/>
          </a:solidFill>
          <a:ln w="1397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cCRE + promoter
tokens for gene 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88920" y="1234440"/>
            <a:ext cx="1874519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AlphaGenome
sequence embeddings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234440"/>
            <a:ext cx="1965960" cy="2286000"/>
          </a:xfrm>
          <a:prstGeom prst="roundRect">
            <a:avLst/>
          </a:prstGeom>
          <a:solidFill>
            <a:srgbClr val="E1EBF7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shared CRE
transformer layers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543800" y="2651760"/>
            <a:ext cx="1920240" cy="86868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FiLM or
cross-attention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543800" y="1234440"/>
            <a:ext cx="192024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promoter token
readout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966960" y="1737360"/>
            <a:ext cx="1417320" cy="11430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4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velocity
f_g(s_t, Z_g)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423160" y="1664208"/>
            <a:ext cx="36576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663440" y="1664208"/>
            <a:ext cx="41148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040880" y="1664208"/>
            <a:ext cx="50292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9464040" y="1664208"/>
            <a:ext cx="502920" cy="484632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423160" y="3090672"/>
            <a:ext cx="512064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9464040" y="2514600"/>
            <a:ext cx="502920" cy="576072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280160" y="4800600"/>
            <a:ext cx="969264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0252A"/>
                </a:solidFill>
                <a:latin typeface="Aptos"/>
              </a:rPr>
              <a:t>Gene specificity comes from linked sequence tokens; weights are shared across genes.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UCE changes the state representation; CFM targets remain expression-valued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234440"/>
            <a:ext cx="1828800" cy="822960"/>
          </a:xfrm>
          <a:prstGeom prst="roundRect">
            <a:avLst/>
          </a:prstGeom>
          <a:solidFill>
            <a:srgbClr val="E1EBF7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expression endpoints
x_k, x_k+1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926080" y="1234440"/>
            <a:ext cx="1828800" cy="822960"/>
          </a:xfrm>
          <a:prstGeom prst="roundRect">
            <a:avLst/>
          </a:prstGeom>
          <a:solidFill>
            <a:srgbClr val="F9EECF"/>
          </a:solidFill>
          <a:ln w="1397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OT pairs and
linear paths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74920" y="1234440"/>
            <a:ext cx="182880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4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target expression
velocity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3063240"/>
            <a:ext cx="1828800" cy="82296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frozen UCE
encoder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74920" y="3063240"/>
            <a:ext cx="1828800" cy="82296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interpolated
u_t in R^1280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148840"/>
            <a:ext cx="182880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STREAM / CFM
vector field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372600" y="2148840"/>
            <a:ext cx="1828800" cy="82296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4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predicted expression
velocity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606040" y="1645920"/>
            <a:ext cx="32004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754880" y="1645920"/>
            <a:ext cx="32004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606040" y="1783080"/>
            <a:ext cx="320040" cy="169164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4754880" y="3474720"/>
            <a:ext cx="32004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6903720" y="2560320"/>
            <a:ext cx="320040" cy="91440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052560" y="2560320"/>
            <a:ext cx="32004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371600" y="4800600"/>
          <a:ext cx="9509760" cy="960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0"/>
                <a:gridCol w="3169920"/>
                <a:gridCol w="3169920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Run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Input to f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Aptos"/>
                        </a:rPr>
                        <a:t>Output / loss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52A"/>
                          </a:solidFill>
                          <a:latin typeface="Aptos"/>
                        </a:rPr>
                        <a:t>Expression state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52A"/>
                          </a:solidFill>
                          <a:latin typeface="Aptos"/>
                        </a:rPr>
                        <a:t>x_t in R^G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52A"/>
                          </a:solidFill>
                          <a:latin typeface="Aptos"/>
                        </a:rPr>
                        <a:t>G-gene velocity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52A"/>
                          </a:solidFill>
                          <a:latin typeface="Aptos"/>
                        </a:rPr>
                        <a:t>UCE state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52A"/>
                          </a:solidFill>
                          <a:latin typeface="Aptos"/>
                        </a:rPr>
                        <a:t>u_t in R^1280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>
                          <a:solidFill>
                            <a:srgbClr val="20252A"/>
                          </a:solidFill>
                          <a:latin typeface="Aptos"/>
                        </a:rPr>
                        <a:t>G-gene velocity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Learned vector fields can be visualized as velocity streams on the cell atlas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161288" y="978408"/>
            <a:ext cx="2468880" cy="384048"/>
          </a:xfrm>
          <a:prstGeom prst="roundRect">
            <a:avLst/>
          </a:prstGeom>
          <a:solidFill>
            <a:srgbClr val="E1EBF7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200" b="1">
                <a:solidFill>
                  <a:srgbClr val="20252A"/>
                </a:solidFill>
                <a:latin typeface="Aptos"/>
              </a:rPr>
              <a:t>CFM</a:t>
            </a:r>
          </a:p>
        </p:txBody>
      </p:sp>
      <p:pic>
        <p:nvPicPr>
          <p:cNvPr id="4" name="Picture 3" descr="velocity_embedding_stream_standard_cf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192301"/>
            <a:ext cx="3566160" cy="2555693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5001768" y="978408"/>
            <a:ext cx="2468880" cy="384048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200" b="1">
                <a:solidFill>
                  <a:srgbClr val="20252A"/>
                </a:solidFill>
                <a:latin typeface="Aptos"/>
              </a:rPr>
              <a:t>FiLM STREAM</a:t>
            </a:r>
          </a:p>
        </p:txBody>
      </p:sp>
      <p:pic>
        <p:nvPicPr>
          <p:cNvPr id="6" name="Picture 5" descr="velocity_embedding_stream_fil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2192301"/>
            <a:ext cx="3566160" cy="2555693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842248" y="978408"/>
            <a:ext cx="2468880" cy="384048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200" b="1">
                <a:solidFill>
                  <a:srgbClr val="20252A"/>
                </a:solidFill>
                <a:latin typeface="Aptos"/>
              </a:rPr>
              <a:t>Cross-attn STREAM</a:t>
            </a:r>
          </a:p>
        </p:txBody>
      </p:sp>
      <p:pic>
        <p:nvPicPr>
          <p:cNvPr id="8" name="Picture 7" descr="velocity_embedding_stream_cross_atten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83880" y="2192301"/>
            <a:ext cx="3566160" cy="255569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68680" y="5742432"/>
            <a:ext cx="1051560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Aptos"/>
              </a:rPr>
              <a:t>Illustrative stream plots show how model-predicted velocities align with the atlas manifold.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Mouse: 10k genes lowers full-panel loss; cross-attention is best by MSE</a:t>
            </a:r>
          </a:p>
        </p:txBody>
      </p:sp>
      <p:pic>
        <p:nvPicPr>
          <p:cNvPr id="3" name="Picture 2" descr="mouse_full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11579"/>
            <a:ext cx="7680960" cy="384048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641080" y="1325880"/>
            <a:ext cx="2194560" cy="914400"/>
          </a:xfrm>
          <a:prstGeom prst="rect">
            <a:avLst/>
          </a:prstGeom>
          <a:solidFill>
            <a:srgbClr val="E0F1E5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0">
                <a:solidFill>
                  <a:srgbClr val="20252A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95944" y="1453895"/>
            <a:ext cx="2084831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0252A"/>
                </a:solidFill>
                <a:latin typeface="Aptos"/>
              </a:rPr>
              <a:t>20.28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14232" y="1856231"/>
            <a:ext cx="2048255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Aptos"/>
              </a:rPr>
              <a:t>best 10k MSE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32520" y="2212848"/>
            <a:ext cx="2011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Cross-attn + UCE</a:t>
            </a:r>
          </a:p>
        </p:txBody>
      </p:sp>
      <p:sp>
        <p:nvSpPr>
          <p:cNvPr id="8" name="Rectangle 7"/>
          <p:cNvSpPr/>
          <p:nvPr/>
        </p:nvSpPr>
        <p:spPr>
          <a:xfrm>
            <a:off x="8641080" y="2788920"/>
            <a:ext cx="2194560" cy="914400"/>
          </a:xfrm>
          <a:prstGeom prst="rect">
            <a:avLst/>
          </a:prstGeom>
          <a:solidFill>
            <a:srgbClr val="E1EBF7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0">
                <a:solidFill>
                  <a:srgbClr val="20252A"/>
                </a:solidFill>
                <a:latin typeface="Aptos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95944" y="2916936"/>
            <a:ext cx="2084831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0252A"/>
                </a:solidFill>
                <a:latin typeface="Aptos"/>
              </a:rPr>
              <a:t>1.594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714232" y="3319272"/>
            <a:ext cx="2048255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Aptos"/>
              </a:rPr>
              <a:t>best 10k MAE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32520" y="3675887"/>
            <a:ext cx="2011680" cy="25603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Cross-attn + UCE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715000"/>
            <a:ext cx="1024128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Aptos"/>
              </a:rPr>
              <a:t>Full-panel losses compare each model on its own selected genes; the legacy-panel slide controls for output genes.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Fair legacy-panel scoring shows the 10k cross-attention gain is real</a:t>
            </a:r>
          </a:p>
        </p:txBody>
      </p:sp>
      <p:pic>
        <p:nvPicPr>
          <p:cNvPr id="3" name="Picture 2" descr="legacy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34439"/>
            <a:ext cx="7680960" cy="320040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8823960" y="1371600"/>
            <a:ext cx="2331720" cy="777240"/>
          </a:xfrm>
          <a:prstGeom prst="roundRect">
            <a:avLst/>
          </a:prstGeom>
          <a:solidFill>
            <a:srgbClr val="F9E0DC"/>
          </a:solidFill>
          <a:ln w="13970">
            <a:solidFill>
              <a:srgbClr val="BE4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5k models do not improve the 1,984-gene metric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823960" y="2514600"/>
            <a:ext cx="2331720" cy="86868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10k cross-attention improves loss from 84.8 to 80.5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23960" y="3840480"/>
            <a:ext cx="2331720" cy="86868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10k UCE cross-attention improves further to 78.7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5C6773"/>
                </a:solidFill>
                <a:latin typeface="Aptos"/>
              </a:rPr>
              <a:t>Numbers are held-out MSE on the same original gene panel; lower is better.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The best mouse model is 10k UCE cross-attention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822960" y="1234440"/>
          <a:ext cx="493776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Model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MSE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Aptos"/>
                        </a:rPr>
                        <a:t>MAE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Cross-attn + UCE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20.28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1.594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Cross-attn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20.86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1.742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CFM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21.16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1.602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FiLM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23.60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>
                          <a:solidFill>
                            <a:srgbClr val="20252A"/>
                          </a:solidFill>
                          <a:latin typeface="Aptos"/>
                        </a:rPr>
                        <a:t>1.669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6400800" y="1234440"/>
            <a:ext cx="4297680" cy="82296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UCE helps when the model can use sequence-specific cell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423160"/>
            <a:ext cx="429768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Cross-attention can query UCE context differently for each gene's CRE tokens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3703320"/>
            <a:ext cx="4297680" cy="914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Expression-state CFM remains a strong baseline, so sequence conditioning must beat a high bar</a:t>
            </a:r>
          </a:p>
        </p:txBody>
      </p:sp>
      <p:sp>
        <p:nvSpPr>
          <p:cNvPr id="7" name="Rectangle 6"/>
          <p:cNvSpPr/>
          <p:nvPr/>
        </p:nvSpPr>
        <p:spPr>
          <a:xfrm>
            <a:off x="1097280" y="4251960"/>
            <a:ext cx="2377440" cy="1005840"/>
          </a:xfrm>
          <a:prstGeom prst="rect">
            <a:avLst/>
          </a:prstGeom>
          <a:solidFill>
            <a:srgbClr val="E0F1E5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0">
                <a:solidFill>
                  <a:srgbClr val="20252A"/>
                </a:solidFill>
                <a:latin typeface="Apto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" y="4379976"/>
            <a:ext cx="2267712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0252A"/>
                </a:solidFill>
                <a:latin typeface="Aptos"/>
              </a:rPr>
              <a:t>20.28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70432" y="4782312"/>
            <a:ext cx="223113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Aptos"/>
              </a:rPr>
              <a:t>best full-panel MSE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03320" y="4251960"/>
            <a:ext cx="2377440" cy="1005840"/>
          </a:xfrm>
          <a:prstGeom prst="rect">
            <a:avLst/>
          </a:prstGeom>
          <a:solidFill>
            <a:srgbClr val="E0F1E5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0">
                <a:solidFill>
                  <a:srgbClr val="20252A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58183" y="4379976"/>
            <a:ext cx="2267712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0252A"/>
                </a:solidFill>
                <a:latin typeface="Aptos"/>
              </a:rPr>
              <a:t>1.594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76472" y="4782312"/>
            <a:ext cx="2231136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Aptos"/>
              </a:rPr>
              <a:t>best full-panel MAE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Cross-species transfer swaps the genome and cell-state vocabulary, not the training objective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77240" y="1325880"/>
            <a:ext cx="2011680" cy="868680"/>
          </a:xfrm>
          <a:prstGeom prst="roundRect">
            <a:avLst/>
          </a:prstGeom>
          <a:solidFill>
            <a:srgbClr val="E1EBF7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mouse 10k
UCE cross-attn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46120" y="1325880"/>
            <a:ext cx="1645920" cy="868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source checkpoint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3063240"/>
            <a:ext cx="2011680" cy="86868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zebrafish UCE
cell states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46120" y="3063240"/>
            <a:ext cx="1645920" cy="868680"/>
          </a:xfrm>
          <a:prstGeom prst="roundRect">
            <a:avLst/>
          </a:prstGeom>
          <a:solidFill>
            <a:srgbClr val="F9EECF"/>
          </a:solidFill>
          <a:ln w="1397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zebrafish cCRE
sequence tokens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0" y="960120"/>
            <a:ext cx="1554480" cy="640080"/>
          </a:xfrm>
          <a:prstGeom prst="roundRect">
            <a:avLst/>
          </a:prstGeom>
          <a:solidFill>
            <a:srgbClr val="F9EECF"/>
          </a:solidFill>
          <a:ln w="1397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zero-shot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965960"/>
            <a:ext cx="1554480" cy="64008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fine-tuned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0" y="2971800"/>
            <a:ext cx="1554480" cy="640080"/>
          </a:xfrm>
          <a:prstGeom prst="roundRect">
            <a:avLst/>
          </a:prstGeom>
          <a:solidFill>
            <a:srgbClr val="E1EBF7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zebrafish only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240280"/>
            <a:ext cx="3017520" cy="960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E4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held-out 36 and 72 hpf
expression displacement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88920" y="1755648"/>
            <a:ext cx="457200" cy="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4892040" y="1280160"/>
            <a:ext cx="594360" cy="475488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4892040" y="2286000"/>
            <a:ext cx="594360" cy="1207008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4892040" y="3291840"/>
            <a:ext cx="594360" cy="201168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040880" y="2331720"/>
            <a:ext cx="594360" cy="365760"/>
          </a:xfrm>
          <a:prstGeom prst="line">
            <a:avLst/>
          </a:prstGeom>
          <a:ln w="25400">
            <a:solidFill>
              <a:srgbClr val="5C677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05840" y="5212080"/>
            <a:ext cx="996696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500" b="1">
                <a:solidFill>
                  <a:srgbClr val="20252A"/>
                </a:solidFill>
                <a:latin typeface="Aptos"/>
              </a:rPr>
              <a:t>Two time conventions are evaluated: physical days and organism-relative [0,1] time.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Zebrafish transfer is challenging: fine-tuning is best learned model in relative time</a:t>
            </a:r>
          </a:p>
        </p:txBody>
      </p:sp>
      <p:pic>
        <p:nvPicPr>
          <p:cNvPr id="3" name="Picture 2" descr="zfish_trans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195753"/>
            <a:ext cx="7863840" cy="378069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961120" y="1234440"/>
            <a:ext cx="2103120" cy="868680"/>
          </a:xfrm>
          <a:prstGeom prst="rect">
            <a:avLst/>
          </a:prstGeom>
          <a:solidFill>
            <a:srgbClr val="E0F1E5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0">
                <a:solidFill>
                  <a:srgbClr val="20252A"/>
                </a:solidFill>
                <a:latin typeface="Aptos"/>
              </a:rPr>
              <a:t/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015984" y="1362456"/>
            <a:ext cx="1993391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0252A"/>
                </a:solidFill>
                <a:latin typeface="Aptos"/>
              </a:rPr>
              <a:t>0.131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34272" y="1764792"/>
            <a:ext cx="1956815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Aptos"/>
              </a:rPr>
              <a:t>relative fine-tuned</a:t>
            </a:r>
          </a:p>
        </p:txBody>
      </p:sp>
      <p:sp>
        <p:nvSpPr>
          <p:cNvPr id="7" name="Rectangle 6"/>
          <p:cNvSpPr/>
          <p:nvPr/>
        </p:nvSpPr>
        <p:spPr>
          <a:xfrm>
            <a:off x="8961120" y="2468880"/>
            <a:ext cx="2103120" cy="868680"/>
          </a:xfrm>
          <a:prstGeom prst="rect">
            <a:avLst/>
          </a:prstGeom>
          <a:solidFill>
            <a:srgbClr val="E1EBF7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0">
                <a:solidFill>
                  <a:srgbClr val="20252A"/>
                </a:solidFill>
                <a:latin typeface="Aptos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15984" y="2596896"/>
            <a:ext cx="1993391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0252A"/>
                </a:solidFill>
                <a:latin typeface="Aptos"/>
              </a:rPr>
              <a:t>0.157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34272" y="2999232"/>
            <a:ext cx="1956815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Aptos"/>
              </a:rPr>
              <a:t>relative zebrafish only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8961120" y="3703320"/>
            <a:ext cx="2103120" cy="868680"/>
          </a:xfrm>
          <a:prstGeom prst="rect">
            <a:avLst/>
          </a:prstGeom>
          <a:solidFill>
            <a:srgbClr val="F9EECF"/>
          </a:solidFill>
          <a:ln w="13970">
            <a:solidFill>
              <a:srgbClr val="D2D8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0">
                <a:solidFill>
                  <a:srgbClr val="20252A"/>
                </a:solidFill>
                <a:latin typeface="Aptos"/>
              </a:rPr>
              <a:t/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15984" y="3831335"/>
            <a:ext cx="1993391" cy="329184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20252A"/>
                </a:solidFill>
                <a:latin typeface="Aptos"/>
              </a:rPr>
              <a:t>0.175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34272" y="4233672"/>
            <a:ext cx="1956815" cy="36576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000" b="0">
                <a:solidFill>
                  <a:srgbClr val="5C6773"/>
                </a:solidFill>
                <a:latin typeface="Aptos"/>
              </a:rPr>
              <a:t>physical zero-shot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69280"/>
            <a:ext cx="1024128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Aptos"/>
              </a:rPr>
              <a:t>Lower displacement MAE is better. Bars compare learned transfer and target-only regimes.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Cross-species generalization depends on the time coordinate and training regime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051560"/>
          <a:ext cx="685800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Time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Regime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MAE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MSE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Relative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Mouse zero-shot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0.184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3.348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Relative time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Mouse -&gt; zebrafish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0.131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3.325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Relative time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Zebrafish only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0.157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3.331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Physical days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Mouse zero-shot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0.175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3.337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542108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Physical days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Mouse -&gt; zebrafish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0.210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3.351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211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Physical days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Zebrafish only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0.297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3.414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001000" y="1234440"/>
            <a:ext cx="3108960" cy="914400"/>
          </a:xfrm>
          <a:prstGeom prst="roundRect">
            <a:avLst/>
          </a:prstGeom>
          <a:solidFill>
            <a:srgbClr val="E0F1E5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Relative time: fine-tuning beats zero-shot and zebrafish-only among learned models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01000" y="2514600"/>
            <a:ext cx="3108960" cy="960120"/>
          </a:xfrm>
          <a:prstGeom prst="roundRect">
            <a:avLst/>
          </a:prstGeom>
          <a:solidFill>
            <a:srgbClr val="F9EECF"/>
          </a:solidFill>
          <a:ln w="1397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Physical days: zero-shot is the strongest learned model, suggesting transferred timing is useful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01000" y="3886200"/>
            <a:ext cx="3108960" cy="960120"/>
          </a:xfrm>
          <a:prstGeom prst="roundRect">
            <a:avLst/>
          </a:prstGeom>
          <a:solidFill>
            <a:srgbClr val="E1EBF7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Zebrafish-only training is weaker than transfer-started models in both time coordinates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Current picture: 10k + UCE + cross-attention works in mouse; transfer needs stronger alignment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1097280"/>
          <a:ext cx="1083564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11880"/>
                <a:gridCol w="3611880"/>
                <a:gridCol w="3611880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Question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ptos"/>
                        </a:rPr>
                        <a:t>Evidence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Mouse panel size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10k &gt; 5k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Cross-attn improves legacy-panel loss at 10k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State representation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UCE helps STREAM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Best mouse model is 10k UCE cross-attn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Sequence conditioning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Useful but not automatic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CFM remains a strong baseline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Cross-species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Transfer signal appears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20252A"/>
                          </a:solidFill>
                          <a:latin typeface="Aptos"/>
                        </a:rPr>
                        <a:t>Fine-tuning helps in relative time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868680" y="4206240"/>
            <a:ext cx="1920240" cy="502920"/>
          </a:xfrm>
          <a:prstGeom prst="roundRect">
            <a:avLst/>
          </a:prstGeom>
          <a:solidFill>
            <a:srgbClr val="E1EBF7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Next experiments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71800" y="4206240"/>
            <a:ext cx="23317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D69E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200" b="1">
                <a:solidFill>
                  <a:srgbClr val="20252A"/>
                </a:solidFill>
                <a:latin typeface="Aptos"/>
              </a:rPr>
              <a:t>sequence embedding calibrated for zebrafish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32120" y="4206240"/>
            <a:ext cx="23317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539A5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200" b="1">
                <a:solidFill>
                  <a:srgbClr val="20252A"/>
                </a:solidFill>
                <a:latin typeface="Aptos"/>
              </a:rPr>
              <a:t>stage-aware or time-conditioned transfer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4206240"/>
            <a:ext cx="2331720" cy="658368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705D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200" b="1">
                <a:solidFill>
                  <a:srgbClr val="20252A"/>
                </a:solidFill>
                <a:latin typeface="Aptos"/>
              </a:rPr>
              <a:t>rollout metrics beyond short displacement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669280"/>
            <a:ext cx="10241280" cy="41148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600" b="1">
                <a:solidFill>
                  <a:srgbClr val="20252A"/>
                </a:solidFill>
                <a:latin typeface="Aptos"/>
              </a:rPr>
              <a:t>Main result: modeling more genes is helpful at 10k, especially when UCE state and cross-attention are combined.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37744"/>
            <a:ext cx="11155680" cy="438912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l"/>
            <a:r>
              <a:rPr sz="2500" b="1">
                <a:solidFill>
                  <a:srgbClr val="20252A"/>
                </a:solidFill>
                <a:latin typeface="Aptos"/>
              </a:rPr>
              <a:t>References anchor the flow-matching, cell-embedding, sequence, and zebrafish components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051560"/>
          <a:ext cx="10972800" cy="3063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Component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Aptos"/>
                        </a:rPr>
                        <a:t>Reference</a:t>
                      </a:r>
                    </a:p>
                  </a:txBody>
                  <a:tcPr>
                    <a:solidFill>
                      <a:srgbClr val="3165A3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Conditional Flow Matching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Lipman et al., Flow Matching for Generative Modeling, ICLR 2023 / arXiv:2210.02747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UCE cell state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Rosen et al., Universal cell embeddings provide a foundation model for cell biology, Nature 2026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Sequence embeddings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Avsec et al., Advancing regulatory variant effect prediction with AlphaGenome, Nature, doi:10.1038/s41586-025-10014-0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ZSCAPE atlas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Saunders et al., Embryo-scale reverse genetics at single-cell resolution, Nature 2023</a:t>
                      </a:r>
                    </a:p>
                  </a:txBody>
                  <a:tcPr>
                    <a:solidFill>
                      <a:srgbClr val="F1F4F7"/>
                    </a:solidFill>
                  </a:tcPr>
                </a:tc>
              </a:tr>
              <a:tr h="510540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STREAM figures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20252A"/>
                          </a:solidFill>
                          <a:latin typeface="Aptos"/>
                        </a:rPr>
                        <a:t>Generated from project outputs: atlas UMAP, held-out CFM metrics, UCE ablations, and transfer evaluations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1097280" y="4800600"/>
            <a:ext cx="9966960" cy="777240"/>
          </a:xfrm>
          <a:prstGeom prst="roundRect">
            <a:avLst/>
          </a:prstGeom>
          <a:solidFill>
            <a:srgbClr val="E1EBF7"/>
          </a:solidFill>
          <a:ln w="13970">
            <a:solidFill>
              <a:srgbClr val="3165A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54864" bIns="54864"/>
          <a:lstStyle/>
          <a:p>
            <a:pPr algn="ctr"/>
            <a:r>
              <a:rPr sz="1300" b="1">
                <a:solidFill>
                  <a:srgbClr val="20252A"/>
                </a:solidFill>
                <a:latin typeface="Aptos"/>
              </a:rPr>
              <a:t>Displayed plots and diagrams are generated from this repository's analysis outputs or drawn schematically in the deck builder.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779008"/>
            <a:ext cx="9966960" cy="320040"/>
          </a:xfrm>
          <a:prstGeom prst="rect">
            <a:avLst/>
          </a:prstGeom>
          <a:noFill/>
        </p:spPr>
        <p:txBody>
          <a:bodyPr wrap="none" lIns="36576" rIns="36576" tIns="18288" bIns="18288" anchor="t">
            <a:spAutoFit/>
          </a:bodyPr>
          <a:lstStyle/>
          <a:p>
            <a:pPr algn="ctr"/>
            <a:r>
              <a:rPr sz="1200" b="0">
                <a:solidFill>
                  <a:srgbClr val="5C6773"/>
                </a:solidFill>
                <a:latin typeface="Aptos"/>
              </a:rPr>
              <a:t>The deck is reproducible from the slide builder script and current result CSV/PNG artifacts.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