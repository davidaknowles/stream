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229600" cy="10058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800" b="1">
                <a:solidFill>
                  <a:srgbClr val="20252A"/>
                </a:solidFill>
                <a:latin typeface="Aptos"/>
              </a:rPr>
              <a:t>STREAM learns developmental vector fields from cell state and regulatory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261872"/>
            <a:ext cx="8229600" cy="3200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C6773"/>
                </a:solidFill>
                <a:latin typeface="Aptos"/>
              </a:rPr>
              <a:t>Multi-timepoint CFM + CRE sequence conditioning + UCE cell-state embeddings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2240280"/>
            <a:ext cx="2057400" cy="96012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Time-resolved
single-cell atlas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2240280"/>
            <a:ext cx="2057400" cy="96012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Regulatory DNA
cCRE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79008" y="2240280"/>
            <a:ext cx="2057400" cy="96012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UCE or expression
cell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2240280"/>
            <a:ext cx="205740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Gene velocity
field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70632" y="2724912"/>
            <a:ext cx="475488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724912"/>
            <a:ext cx="475488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36408" y="2724912"/>
            <a:ext cx="484632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22960" y="4663440"/>
            <a:ext cx="2011680" cy="96012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11.44M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mouse atlas cells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663440"/>
            <a:ext cx="2011680" cy="96012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1.23M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zebrafish control 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663440"/>
            <a:ext cx="2011680" cy="960120"/>
          </a:xfrm>
          <a:prstGeom prst="rect">
            <a:avLst/>
          </a:prstGeom>
          <a:solidFill>
            <a:srgbClr val="F9EEC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126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modeled genes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4663440"/>
            <a:ext cx="2743200" cy="96012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2984" y="4791455"/>
            <a:ext cx="263347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UCE + cross-attn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5193792"/>
            <a:ext cx="259689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mouse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Development is observed as snapshots, but the target is a continuous vector field</a:t>
            </a:r>
          </a:p>
        </p:txBody>
      </p:sp>
      <p:pic>
        <p:nvPicPr>
          <p:cNvPr id="3" name="Picture 2" descr="full_umap_by_major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366"/>
            <a:ext cx="5394960" cy="41253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0" y="1143000"/>
          <a:ext cx="5440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/>
                <a:gridCol w="906780"/>
                <a:gridCol w="906780"/>
                <a:gridCol w="906780"/>
                <a:gridCol w="906780"/>
                <a:gridCol w="9067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Species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Cells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Timepoints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Held out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Genes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CRE tokens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Mouse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11.44M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E9.5, E10.5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5k / 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Zebrafish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1.23M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18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36, 72 hpf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10k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318k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0" y="3154680"/>
            <a:ext cx="4617720" cy="658368"/>
          </a:xfrm>
          <a:prstGeom prst="round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Held-out timepoints test temporal interpolation around missing stages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069080"/>
            <a:ext cx="4617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0">
                <a:solidFill>
                  <a:srgbClr val="20252A"/>
                </a:solidFill>
                <a:latin typeface="Aptos"/>
              </a:rPr>
              <a:t>The same output space is used for CFM and STREAM, so sequence conditioning is the isolated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5074920"/>
            <a:ext cx="46177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0">
                <a:solidFill>
                  <a:srgbClr val="20252A"/>
                </a:solidFill>
                <a:latin typeface="Aptos"/>
              </a:rPr>
              <a:t>Cross-species tests swap regulatory sequence and UCE gene tokens while retaining expression-valued targets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Multi-timepoint CFM trains on adjacent intervals and scores intervals touching held-out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E8.5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E8.75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E9.0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2148840"/>
            <a:ext cx="749808" cy="438912"/>
          </a:xfrm>
          <a:prstGeom prst="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20252A"/>
                </a:solidFill>
                <a:latin typeface="Aptos"/>
              </a:rPr>
              <a:t>E9.5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2148840"/>
            <a:ext cx="749808" cy="438912"/>
          </a:xfrm>
          <a:prstGeom prst="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20252A"/>
                </a:solidFill>
                <a:latin typeface="Aptos"/>
              </a:rPr>
              <a:t>E10.5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8700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E10.75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72768" y="2368296"/>
            <a:ext cx="301751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24327" y="2368296"/>
            <a:ext cx="301753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75888" y="2368296"/>
            <a:ext cx="301751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744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7900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30568" y="2368296"/>
            <a:ext cx="301752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82127" y="2368296"/>
            <a:ext cx="301752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3368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8524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03120" y="2788920"/>
            <a:ext cx="78638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green = trained adjacent intervals     red = held-out-touching evaluation intervals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886200"/>
            <a:ext cx="2011680" cy="6400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1. sample cells at t_k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3886200"/>
            <a:ext cx="2103120" cy="6400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2. minibatch OT pairs cells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77840" y="3886200"/>
            <a:ext cx="2240280" cy="6400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3. interpolate x_t at random tau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886200"/>
            <a:ext cx="2743200" cy="640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4. regress velocity (x_1 - x_0) / dt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3464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5780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1812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60120" y="5257800"/>
            <a:ext cx="1005840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One vector field is fit across all training intervals; no ODE rollout is needed during fitting.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STREAM predicts each gene velocity from global cell state and local regulatory tokens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2651760"/>
            <a:ext cx="16459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cell state
x_t or u_t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1645920" cy="8686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cCRE + promoter
tokens for gene 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1234440"/>
            <a:ext cx="1874519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AlphaGenome
sequence embeddings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234440"/>
            <a:ext cx="1965960" cy="228600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shared CRE
transformer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2651760"/>
            <a:ext cx="192024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FiLM or
cross-attention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234440"/>
            <a:ext cx="192024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promoter token
readout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737360"/>
            <a:ext cx="141732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velocity
f_g(s_t, Z_g)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1664208"/>
            <a:ext cx="36576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63440" y="1664208"/>
            <a:ext cx="41148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40880" y="1664208"/>
            <a:ext cx="50292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464040" y="1664208"/>
            <a:ext cx="502920" cy="484632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423160" y="3090672"/>
            <a:ext cx="51206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464040" y="2514600"/>
            <a:ext cx="502920" cy="576072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80160" y="4800600"/>
            <a:ext cx="969264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Gene specificity comes from linked sequence tokens; weights are shared across genes.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UCE changes the state representation; CFM targets remain expression-valued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828800" cy="82296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expression endpoints
x_k, x_k+1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1234440"/>
            <a:ext cx="1828800" cy="82296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OT pairs and
linear paths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12344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target expression
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3063240"/>
            <a:ext cx="1828800" cy="82296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frozen UCE
encoder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3063240"/>
            <a:ext cx="1828800" cy="82296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interpolated
u_t in R^1280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1488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STREAM / CFM
vector field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72600" y="21488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predicted expression
velocity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16459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54880" y="16459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06040" y="1783080"/>
            <a:ext cx="320040" cy="169164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34747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903720" y="2560320"/>
            <a:ext cx="320040" cy="91440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2560" y="25603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371600" y="4800600"/>
          <a:ext cx="95097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0"/>
                <a:gridCol w="3169920"/>
                <a:gridCol w="316992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Input to f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Output / loss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Expression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x_t in R^G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G-gene 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UCE state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u_t in R^1280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G-gene velocity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Mouse: 10k genes lowers full-panel loss; cross-attention is best by MSE</a:t>
            </a:r>
          </a:p>
        </p:txBody>
      </p:sp>
      <p:pic>
        <p:nvPicPr>
          <p:cNvPr id="3" name="Picture 2" descr="mouse_full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11579"/>
            <a:ext cx="7680960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41080" y="1325880"/>
            <a:ext cx="2194560" cy="91440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95944" y="1453895"/>
            <a:ext cx="208483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20.28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4232" y="1856231"/>
            <a:ext cx="204825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10k MSE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212848"/>
            <a:ext cx="20116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Cross-attn + UCE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2788920"/>
            <a:ext cx="2194560" cy="91440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95944" y="2916936"/>
            <a:ext cx="208483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1.594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4232" y="3319272"/>
            <a:ext cx="204825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10k 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675887"/>
            <a:ext cx="20116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Cross-attn + 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15000"/>
            <a:ext cx="1024128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Full-panel losses compare each model on its own selected genes; the legacy-panel slide controls for output genes.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Fair legacy-panel scoring shows the 10k cross-attention gain is real</a:t>
            </a:r>
          </a:p>
        </p:txBody>
      </p:sp>
      <p:pic>
        <p:nvPicPr>
          <p:cNvPr id="3" name="Picture 2" descr="legac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39"/>
            <a:ext cx="7680960" cy="32004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823960" y="1371600"/>
            <a:ext cx="2331720" cy="777240"/>
          </a:xfrm>
          <a:prstGeom prst="round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5k models do not improve the 1,984-gene metric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23960" y="2514600"/>
            <a:ext cx="23317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10k cross-attention improves loss from 84.8 to 80.5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3840480"/>
            <a:ext cx="23317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10k UCE cross-attention improves further to 78.7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C6773"/>
                </a:solidFill>
                <a:latin typeface="Aptos"/>
              </a:rPr>
              <a:t>Numbers are held-out MSE on the same original gene panel; lower is better.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The best mouse model is 10k UCE cross-attention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23444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MSE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Cross-attn + UCE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1.594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Cross-attn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20.86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1.742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21.16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FiLM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23.60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1.669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0" y="1234440"/>
            <a:ext cx="4297680" cy="82296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UCE helps when the model can use sequence-specific cell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423160"/>
            <a:ext cx="429768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Cross-attention can query UCE context differently for each gene's CRE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703320"/>
            <a:ext cx="429768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Expression-state CFM remains a strong baseline, so sequence conditioning must beat a high 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51960"/>
            <a:ext cx="2377440" cy="100584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4379976"/>
            <a:ext cx="226771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20.28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4782312"/>
            <a:ext cx="223113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full-panel MSE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4251960"/>
            <a:ext cx="2377440" cy="100584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3" y="4379976"/>
            <a:ext cx="226771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4782312"/>
            <a:ext cx="223113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full-panel MAE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Cross-species transfer swaps the genome and cell-state vocabulary, not the training objective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325880"/>
            <a:ext cx="2011680" cy="8686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mouse 10k
UCE cross-attn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46120" y="1325880"/>
            <a:ext cx="16459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source checkpoint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63240"/>
            <a:ext cx="201168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UCE
cell states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3063240"/>
            <a:ext cx="1645920" cy="8686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cCRE
sequence 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960120"/>
            <a:ext cx="1554480" cy="6400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zero-shot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965960"/>
            <a:ext cx="1554480" cy="6400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fine-tuned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971800"/>
            <a:ext cx="1554480" cy="6400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3977639"/>
            <a:ext cx="1554480" cy="640080"/>
          </a:xfrm>
          <a:prstGeom prst="roundRect">
            <a:avLst/>
          </a:prstGeom>
          <a:solidFill>
            <a:srgbClr val="E8ECF0"/>
          </a:solidFill>
          <a:ln w="13970">
            <a:solidFill>
              <a:srgbClr val="5C67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no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240280"/>
            <a:ext cx="301752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held-out 36 and 72 hpf
expression displacement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88920" y="1755648"/>
            <a:ext cx="45720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892040" y="1280160"/>
            <a:ext cx="594360" cy="47548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892040" y="2286000"/>
            <a:ext cx="594360" cy="120700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892040" y="3291840"/>
            <a:ext cx="594360" cy="20116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2331720"/>
            <a:ext cx="594360" cy="36576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5840" y="5212080"/>
            <a:ext cx="996696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0252A"/>
                </a:solidFill>
                <a:latin typeface="Aptos"/>
              </a:rPr>
              <a:t>Two time conventions are evaluated: physical days and organism-relative [0,1]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Zebrafish transfer is challenging: fine-tuning is best learned model in relative time</a:t>
            </a:r>
          </a:p>
        </p:txBody>
      </p:sp>
      <p:pic>
        <p:nvPicPr>
          <p:cNvPr id="3" name="Picture 2" descr="zfish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5753"/>
            <a:ext cx="7863840" cy="37806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961120" y="1234440"/>
            <a:ext cx="2103120" cy="86868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15984" y="1362456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34272" y="176479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relative fine-tuned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2468880"/>
            <a:ext cx="2103120" cy="868680"/>
          </a:xfrm>
          <a:prstGeom prst="rect">
            <a:avLst/>
          </a:prstGeom>
          <a:solidFill>
            <a:srgbClr val="E8ECF0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5984" y="2596896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4272" y="299923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relative no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3703320"/>
            <a:ext cx="2103120" cy="868680"/>
          </a:xfrm>
          <a:prstGeom prst="rect">
            <a:avLst/>
          </a:prstGeom>
          <a:solidFill>
            <a:srgbClr val="F9EEC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15984" y="3831335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4272" y="423367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physical zero-shot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241280" cy="3200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Lower displacement MAE is better. The persistence baseline remains strong.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Cross-species generalization is visible but not yet enough to beat persistence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051560"/>
          <a:ext cx="685800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Time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Regime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MSE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No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zero-shot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0.184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3.348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-&gt; zebrafish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Zebrafish only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0.157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3.331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No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zero-shot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0.175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3.337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-&gt; zebrafish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16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Zebrafish only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0.297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3.414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01000" y="1234440"/>
            <a:ext cx="3108960" cy="91440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Relative time: fine-tuning beats zero-shot and zebrafish-only among learned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2514600"/>
            <a:ext cx="3108960" cy="96012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Physical days: zero-shot is the strongest learned model, suggesting transferred timing is useful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3886200"/>
            <a:ext cx="3108960" cy="960120"/>
          </a:xfrm>
          <a:prstGeom prst="round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No-model displacement is still lower, so endpoint movement is small relative to expression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Current picture: 10k + UCE + cross-attention works in mouse; transfer needs stronger alignment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097280"/>
          <a:ext cx="108356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  <a:gridCol w="36118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Question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Mouse panel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10k &gt; 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Cross-attn improves legacy-panel loss at 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State representation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UCE helps STREAM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Best mouse model is 10k UCE cross-attn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Sequence 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Useful but not automatic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CFM remains a strong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Cross-species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Promising but incomplete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Fine-tuning helps; persistence is hard to beat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68680" y="4206240"/>
            <a:ext cx="1920240" cy="50292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Next experiments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sequence embedding calibrated for zebrafish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stage-aware or time-conditioned transfer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rollout metrics beyond short displacement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669280"/>
            <a:ext cx="1024128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Main result: modeling more genes is helpful at 10k, especially when UCE state and cross-attention are combined.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