
<file path=[Content_Types].xml><?xml version="1.0" encoding="utf-8"?>
<Types xmlns="http://schemas.openxmlformats.org/package/2006/content-types">
  <Default Extension="bin" ContentType="application/vnd.openxmlformats-officedocument.presentationml.printerSettings"/>
  <Default Extension="jpeg" ContentType="image/jpeg"/>
  <Default Extension="png" ContentType="image/png"/>
  <Default Extension="rels" ContentType="application/vnd.openxmlformats-package.relationships+xml"/>
  <Default Extension="xml" ContentType="application/xml"/>
  <Override PartName="/docProps/app.xml" ContentType="application/vnd.openxmlformats-officedocument.extended-properties+xml"/>
  <Override PartName="/docProps/core.xml" ContentType="application/vnd.openxmlformats-package.core-properties+xml"/>
  <Override PartName="/ppt/presProps.xml" ContentType="application/vnd.openxmlformats-officedocument.presentationml.presProps+xml"/>
  <Override PartName="/ppt/presentation.xml" ContentType="application/vnd.openxmlformats-officedocument.presentationml.presentation.main+xml"/>
  <Override PartName="/ppt/slideLayouts/slideLayout1.xml" ContentType="application/vnd.openxmlformats-officedocument.presentationml.slideLayout+xml"/>
  <Override PartName="/ppt/slideLayouts/slideLayout10.xml" ContentType="application/vnd.openxmlformats-officedocument.presentationml.slideLayout+xml"/>
  <Override PartName="/ppt/slideLayouts/slideLayout11.xml" ContentType="application/vnd.openxmlformats-officedocument.presentationml.slideLayout+xml"/>
  <Override PartName="/ppt/slideLayouts/slideLayout2.xml" ContentType="application/vnd.openxmlformats-officedocument.presentationml.slideLayout+xml"/>
  <Override PartName="/ppt/slideLayouts/slideLayout3.xml" ContentType="application/vnd.openxmlformats-officedocument.presentationml.slideLayout+xml"/>
  <Override PartName="/ppt/slideLayouts/slideLayout4.xml" ContentType="application/vnd.openxmlformats-officedocument.presentationml.slideLayout+xml"/>
  <Override PartName="/ppt/slideLayouts/slideLayout5.xml" ContentType="application/vnd.openxmlformats-officedocument.presentationml.slideLayout+xml"/>
  <Override PartName="/ppt/slideLayouts/slideLayout6.xml" ContentType="application/vnd.openxmlformats-officedocument.presentationml.slideLayout+xml"/>
  <Override PartName="/ppt/slideLayouts/slideLayout7.xml" ContentType="application/vnd.openxmlformats-officedocument.presentationml.slideLayout+xml"/>
  <Override PartName="/ppt/slideLayouts/slideLayout8.xml" ContentType="application/vnd.openxmlformats-officedocument.presentationml.slideLayout+xml"/>
  <Override PartName="/ppt/slideLayouts/slideLayout9.xml" ContentType="application/vnd.openxmlformats-officedocument.presentationml.slideLayout+xml"/>
  <Override PartName="/ppt/slideMasters/slideMaster1.xml" ContentType="application/vnd.openxmlformats-officedocument.presentationml.slideMaster+xml"/>
  <Override PartName="/ppt/slides/slide1.xml" ContentType="application/vnd.openxmlformats-officedocument.presentationml.slide+xml"/>
  <Override PartName="/ppt/slides/slide10.xml" ContentType="application/vnd.openxmlformats-officedocument.presentationml.slide+xml"/>
  <Override PartName="/ppt/slides/slide11.xml" ContentType="application/vnd.openxmlformats-officedocument.presentationml.slide+xml"/>
  <Override PartName="/ppt/slides/slide12.xml" ContentType="application/vnd.openxmlformats-officedocument.presentationml.slide+xml"/>
  <Override PartName="/ppt/slides/slide13.xml" ContentType="application/vnd.openxmlformats-officedocument.presentationml.slide+xml"/>
  <Override PartName="/ppt/slides/slide14.xml" ContentType="application/vnd.openxmlformats-officedocument.presentationml.slide+xml"/>
  <Override PartName="/ppt/slides/slide2.xml" ContentType="application/vnd.openxmlformats-officedocument.presentationml.slide+xml"/>
  <Override PartName="/ppt/slides/slide3.xml" ContentType="application/vnd.openxmlformats-officedocument.presentationml.slide+xml"/>
  <Override PartName="/ppt/slides/slide4.xml" ContentType="application/vnd.openxmlformats-officedocument.presentationml.slide+xml"/>
  <Override PartName="/ppt/slides/slide5.xml" ContentType="application/vnd.openxmlformats-officedocument.presentationml.slide+xml"/>
  <Override PartName="/ppt/slides/slide6.xml" ContentType="application/vnd.openxmlformats-officedocument.presentationml.slide+xml"/>
  <Override PartName="/ppt/slides/slide7.xml" ContentType="application/vnd.openxmlformats-officedocument.presentationml.slide+xml"/>
  <Override PartName="/ppt/slides/slide8.xml" ContentType="application/vnd.openxmlformats-officedocument.presentationml.slide+xml"/>
  <Override PartName="/ppt/slides/slide9.xml" ContentType="application/vnd.openxmlformats-officedocument.presentationml.slide+xml"/>
  <Override PartName="/ppt/tableStyles.xml" ContentType="application/vnd.openxmlformats-officedocument.presentationml.tableStyles+xml"/>
  <Override PartName="/ppt/theme/theme1.xml" ContentType="application/vnd.openxmlformats-officedocument.theme+xml"/>
  <Override PartName="/ppt/viewProps.xml" ContentType="application/vnd.openxmlformats-officedocument.presentationml.viewProps+xml"/>
</Types>
</file>

<file path=_rels/.rels><?xml version='1.0' encoding='UTF-8' standalone='yes'?>
<Relationships xmlns="http://schemas.openxmlformats.org/package/2006/relationships"><Relationship Id="rId1" Type="http://schemas.openxmlformats.org/officeDocument/2006/relationships/officeDocument" Target="ppt/presentation.xml"/><Relationship Id="rId2" Type="http://schemas.openxmlformats.org/package/2006/relationships/metadata/thumbnail" Target="docProps/thumbnail.jpeg"/><Relationship Id="rId3" Type="http://schemas.openxmlformats.org/package/2006/relationships/metadata/core-properties" Target="docProps/core.xml"/><Relationship Id="rId4" Type="http://schemas.openxmlformats.org/officeDocument/2006/relationships/extended-properties" Target="docProps/app.xml"/></Relationships>
</file>

<file path=ppt/presentation.xml><?xml version="1.0" encoding="utf-8"?>
<p:presentation xmlns:a="http://schemas.openxmlformats.org/drawingml/2006/main" xmlns:r="http://schemas.openxmlformats.org/officeDocument/2006/relationships" xmlns:p="http://schemas.openxmlformats.org/presentationml/2006/main" saveSubsetFonts="1" autoCompressPictures="0">
  <p:sldMasterIdLst>
    <p:sldMasterId id="2147483648" r:id="rId1"/>
  </p:sldMasterIdLst>
  <p:sldIdLst>
    <p:sldId id="256" r:id="rId7"/>
    <p:sldId id="257" r:id="rId8"/>
    <p:sldId id="258" r:id="rId9"/>
    <p:sldId id="259" r:id="rId10"/>
    <p:sldId id="260" r:id="rId11"/>
    <p:sldId id="261" r:id="rId12"/>
    <p:sldId id="262" r:id="rId13"/>
    <p:sldId id="263" r:id="rId14"/>
    <p:sldId id="264" r:id="rId15"/>
    <p:sldId id="265" r:id="rId16"/>
    <p:sldId id="266" r:id="rId17"/>
    <p:sldId id="267" r:id="rId18"/>
    <p:sldId id="268" r:id="rId19"/>
    <p:sldId id="269" r:id="rId20"/>
  </p:sldIdLst>
  <p:sldSz cx="12191695" cy="6858000" type="screen4x3"/>
  <p:notesSz cx="6858000" cy="9144000"/>
  <p:defaultTextStyle>
    <a:defPPr>
      <a:defRPr lang="en-US"/>
    </a:defPPr>
    <a:lvl1pPr marL="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1pPr>
    <a:lvl2pPr marL="4572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2pPr>
    <a:lvl3pPr marL="9144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3pPr>
    <a:lvl4pPr marL="13716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4pPr>
    <a:lvl5pPr marL="18288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5pPr>
    <a:lvl6pPr marL="22860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6pPr>
    <a:lvl7pPr marL="27432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7pPr>
    <a:lvl8pPr marL="32004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8pPr>
    <a:lvl9pPr marL="36576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9pPr>
  </p:defaultTextStyle>
</p:presentation>
</file>

<file path=ppt/presProps.xml><?xml version="1.0" encoding="utf-8"?>
<p:presentationPr xmlns:a="http://schemas.openxmlformats.org/drawingml/2006/main" xmlns:r="http://schemas.openxmlformats.org/officeDocument/2006/relationships" xmlns:p="http://schemas.openxmlformats.org/presentationml/2006/main">
  <p:extLst>
    <p:ext uri="{E76CE94A-603C-4142-B9EB-6D1370010A27}">
      <p14:discardImageEditData xmlns:p14="http://schemas.microsoft.com/office/powerpoint/2010/main" val="0"/>
    </p:ext>
    <p:ext uri="{D31A062A-798A-4329-ABDD-BBA856620510}">
      <p14:defaultImageDpi xmlns:p14="http://schemas.microsoft.com/office/powerpoint/2010/main" val="0"/>
    </p:ext>
  </p:extLst>
</p:presentationPr>
</file>

<file path=ppt/tableStyles.xml><?xml version="1.0" encoding="utf-8"?>
<a:tblStyleLst xmlns:a="http://schemas.openxmlformats.org/drawingml/2006/main" def="{5C22544A-7EE6-4342-B048-85BDC9FD1C3A}"/>
</file>

<file path=ppt/viewProps.xml><?xml version="1.0" encoding="utf-8"?>
<p:viewPr xmlns:a="http://schemas.openxmlformats.org/drawingml/2006/main" xmlns:r="http://schemas.openxmlformats.org/officeDocument/2006/relationships" xmlns:p="http://schemas.openxmlformats.org/presentationml/2006/main" lastView="sldThumbnailView">
  <p:normalViewPr>
    <p:restoredLeft sz="15620"/>
    <p:restoredTop sz="94660"/>
  </p:normalViewPr>
  <p:slideViewPr>
    <p:cSldViewPr snapToGrid="0" snapToObjects="1">
      <p:cViewPr varScale="1">
        <p:scale>
          <a:sx n="124" d="100"/>
          <a:sy n="124" d="100"/>
        </p:scale>
        <p:origin x="-1512" y="-112"/>
      </p:cViewPr>
      <p:guideLst>
        <p:guide orient="horz" pos="2160"/>
        <p:guide pos="2880"/>
      </p:guideLst>
    </p:cSldViewPr>
  </p:slideViewPr>
  <p:notesTextViewPr>
    <p:cViewPr>
      <p:scale>
        <a:sx n="100" d="100"/>
        <a:sy n="100" d="100"/>
      </p:scale>
      <p:origin x="0" y="0"/>
    </p:cViewPr>
  </p:notesTextViewPr>
  <p:gridSpacing cx="76200" cy="76200"/>
</p:viewPr>
</file>

<file path=ppt/_rels/presentation.xml.rels><?xml version='1.0' encoding='UTF-8' standalone='yes'?>
<Relationships xmlns="http://schemas.openxmlformats.org/package/2006/relationships"><Relationship Id="rId1" Type="http://schemas.openxmlformats.org/officeDocument/2006/relationships/slideMaster" Target="slideMasters/slideMaster1.xml"/><Relationship Id="rId2" Type="http://schemas.openxmlformats.org/officeDocument/2006/relationships/printerSettings" Target="printerSettings/printerSettings1.bin"/><Relationship Id="rId3" Type="http://schemas.openxmlformats.org/officeDocument/2006/relationships/presProps" Target="presProps.xml"/><Relationship Id="rId4" Type="http://schemas.openxmlformats.org/officeDocument/2006/relationships/viewProps" Target="viewProps.xml"/><Relationship Id="rId5" Type="http://schemas.openxmlformats.org/officeDocument/2006/relationships/theme" Target="theme/theme1.xml"/><Relationship Id="rId6" Type="http://schemas.openxmlformats.org/officeDocument/2006/relationships/tableStyles" Target="tableStyles.xml"/><Relationship Id="rId7" Type="http://schemas.openxmlformats.org/officeDocument/2006/relationships/slide" Target="slides/slide1.xml"/><Relationship Id="rId8" Type="http://schemas.openxmlformats.org/officeDocument/2006/relationships/slide" Target="slides/slide2.xml"/><Relationship Id="rId9" Type="http://schemas.openxmlformats.org/officeDocument/2006/relationships/slide" Target="slides/slide3.xml"/><Relationship Id="rId10" Type="http://schemas.openxmlformats.org/officeDocument/2006/relationships/slide" Target="slides/slide4.xml"/><Relationship Id="rId11" Type="http://schemas.openxmlformats.org/officeDocument/2006/relationships/slide" Target="slides/slide5.xml"/><Relationship Id="rId12" Type="http://schemas.openxmlformats.org/officeDocument/2006/relationships/slide" Target="slides/slide6.xml"/><Relationship Id="rId13" Type="http://schemas.openxmlformats.org/officeDocument/2006/relationships/slide" Target="slides/slide7.xml"/><Relationship Id="rId14" Type="http://schemas.openxmlformats.org/officeDocument/2006/relationships/slide" Target="slides/slide8.xml"/><Relationship Id="rId15" Type="http://schemas.openxmlformats.org/officeDocument/2006/relationships/slide" Target="slides/slide9.xml"/><Relationship Id="rId16" Type="http://schemas.openxmlformats.org/officeDocument/2006/relationships/slide" Target="slides/slide10.xml"/><Relationship Id="rId17" Type="http://schemas.openxmlformats.org/officeDocument/2006/relationships/slide" Target="slides/slide11.xml"/><Relationship Id="rId18" Type="http://schemas.openxmlformats.org/officeDocument/2006/relationships/slide" Target="slides/slide12.xml"/><Relationship Id="rId19" Type="http://schemas.openxmlformats.org/officeDocument/2006/relationships/slide" Target="slides/slide13.xml"/><Relationship Id="rId20" Type="http://schemas.openxmlformats.org/officeDocument/2006/relationships/slide" Target="slides/slide14.xml"/></Relationships>
</file>

<file path=ppt/slideLayouts/_rels/slideLayout1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2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3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4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5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6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7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8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9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0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1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slideLayout1.xml><?xml version="1.0" encoding="utf-8"?>
<p:sldLayout xmlns:a="http://schemas.openxmlformats.org/drawingml/2006/main" xmlns:r="http://schemas.openxmlformats.org/officeDocument/2006/relationships" xmlns:p="http://schemas.openxmlformats.org/presentationml/2006/main" type="title" preserve="1">
  <p:cSld name="Title Slide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ctrTitle"/>
          </p:nvPr>
        </p:nvSpPr>
        <p:spPr>
          <a:xfrm>
            <a:off x="685800" y="2130425"/>
            <a:ext cx="7772400" cy="1470025"/>
          </a:xfrm>
        </p:spPr>
        <p:txBody>
          <a:bodyPr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Subtitle 2"/>
          <p:cNvSpPr>
            <a:spLocks noGrp="1"/>
          </p:cNvSpPr>
          <p:nvPr>
            <p:ph type="subTitle" idx="1"/>
          </p:nvPr>
        </p:nvSpPr>
        <p:spPr>
          <a:xfrm>
            <a:off x="1371600" y="3886200"/>
            <a:ext cx="6400800" cy="1752600"/>
          </a:xfrm>
        </p:spPr>
        <p:txBody>
          <a:bodyPr/>
          <a:lstStyle>
            <a:lvl1pPr marL="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1pPr>
            <a:lvl2pPr marL="4572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2pPr>
            <a:lvl3pPr marL="9144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3pPr>
            <a:lvl4pPr marL="13716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4pPr>
            <a:lvl5pPr marL="18288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5pPr>
            <a:lvl6pPr marL="22860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6pPr>
            <a:lvl7pPr marL="27432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7pPr>
            <a:lvl8pPr marL="32004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8pPr>
            <a:lvl9pPr marL="36576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9pPr>
          </a:lstStyle>
          <a:p>
            <a:r>
              <a:rPr lang="en-US" smtClean="0"/>
              <a:t>Click to edit Master subtitle style</a:t>
            </a:r>
            <a:endParaRPr lang="en-US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3168075583"/>
      </p:ext>
    </p:extLst>
  </p:cSld>
  <p:clrMapOvr>
    <a:masterClrMapping/>
  </p:clrMapOvr>
</p:sldLayout>
</file>

<file path=ppt/slideLayouts/slideLayout2.xml><?xml version="1.0" encoding="utf-8"?>
<p:sldLayout xmlns:a="http://schemas.openxmlformats.org/drawingml/2006/main" xmlns:r="http://schemas.openxmlformats.org/officeDocument/2006/relationships" xmlns:p="http://schemas.openxmlformats.org/presentationml/2006/main" type="obj" preserve="1">
  <p:cSld name="Title and Conten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614314258"/>
      </p:ext>
    </p:extLst>
  </p:cSld>
  <p:clrMapOvr>
    <a:masterClrMapping/>
  </p:clrMapOvr>
</p:sldLayout>
</file>

<file path=ppt/slideLayouts/slideLayout3.xml><?xml version="1.0" encoding="utf-8"?>
<p:sldLayout xmlns:a="http://schemas.openxmlformats.org/drawingml/2006/main" xmlns:r="http://schemas.openxmlformats.org/officeDocument/2006/relationships" xmlns:p="http://schemas.openxmlformats.org/presentationml/2006/main" type="secHead" preserve="1">
  <p:cSld name="Section Header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722313" y="4406900"/>
            <a:ext cx="7772400" cy="1362075"/>
          </a:xfrm>
        </p:spPr>
        <p:txBody>
          <a:bodyPr anchor="t"/>
          <a:lstStyle>
            <a:lvl1pPr algn="l">
              <a:defRPr sz="4000" b="1" cap="all"/>
            </a:lvl1pPr>
          </a:lstStyle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Text Placeholder 2"/>
          <p:cNvSpPr>
            <a:spLocks noGrp="1"/>
          </p:cNvSpPr>
          <p:nvPr>
            <p:ph type="body" idx="1"/>
          </p:nvPr>
        </p:nvSpPr>
        <p:spPr>
          <a:xfrm>
            <a:off x="722313" y="2906713"/>
            <a:ext cx="7772400" cy="1500187"/>
          </a:xfrm>
        </p:spPr>
        <p:txBody>
          <a:bodyPr anchor="b"/>
          <a:lstStyle>
            <a:lvl1pPr marL="0" indent="0">
              <a:buNone/>
              <a:defRPr sz="2000">
                <a:solidFill>
                  <a:schemeClr val="tx1">
                    <a:tint val="75000"/>
                  </a:schemeClr>
                </a:solidFill>
              </a:defRPr>
            </a:lvl1pPr>
            <a:lvl2pPr marL="457200" indent="0">
              <a:buNone/>
              <a:defRPr sz="1800">
                <a:solidFill>
                  <a:schemeClr val="tx1">
                    <a:tint val="75000"/>
                  </a:schemeClr>
                </a:solidFill>
              </a:defRPr>
            </a:lvl2pPr>
            <a:lvl3pPr marL="914400" indent="0">
              <a:buNone/>
              <a:defRPr sz="1600">
                <a:solidFill>
                  <a:schemeClr val="tx1">
                    <a:tint val="75000"/>
                  </a:schemeClr>
                </a:solidFill>
              </a:defRPr>
            </a:lvl3pPr>
            <a:lvl4pPr marL="13716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4pPr>
            <a:lvl5pPr marL="18288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5pPr>
            <a:lvl6pPr marL="22860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6pPr>
            <a:lvl7pPr marL="27432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7pPr>
            <a:lvl8pPr marL="32004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8pPr>
            <a:lvl9pPr marL="36576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960648375"/>
      </p:ext>
    </p:extLst>
  </p:cSld>
  <p:clrMapOvr>
    <a:masterClrMapping/>
  </p:clrMapOvr>
</p:sldLayout>
</file>

<file path=ppt/slideLayouts/slideLayout4.xml><?xml version="1.0" encoding="utf-8"?>
<p:sldLayout xmlns:a="http://schemas.openxmlformats.org/drawingml/2006/main" xmlns:r="http://schemas.openxmlformats.org/officeDocument/2006/relationships" xmlns:p="http://schemas.openxmlformats.org/presentationml/2006/main" type="twoObj" preserve="1">
  <p:cSld name="Two Conten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Content Placeholder 2"/>
          <p:cNvSpPr>
            <a:spLocks noGrp="1"/>
          </p:cNvSpPr>
          <p:nvPr>
            <p:ph sz="half" idx="1"/>
          </p:nvPr>
        </p:nvSpPr>
        <p:spPr>
          <a:xfrm>
            <a:off x="457200" y="1600200"/>
            <a:ext cx="4038600" cy="4525963"/>
          </a:xfrm>
        </p:spPr>
        <p:txBody>
          <a:bodyPr/>
          <a:lstStyle>
            <a:lvl1pPr>
              <a:defRPr sz="2800"/>
            </a:lvl1pPr>
            <a:lvl2pPr>
              <a:defRPr sz="2400"/>
            </a:lvl2pPr>
            <a:lvl3pPr>
              <a:defRPr sz="2000"/>
            </a:lvl3pPr>
            <a:lvl4pPr>
              <a:defRPr sz="1800"/>
            </a:lvl4pPr>
            <a:lvl5pPr>
              <a:defRPr sz="1800"/>
            </a:lvl5pPr>
            <a:lvl6pPr>
              <a:defRPr sz="1800"/>
            </a:lvl6pPr>
            <a:lvl7pPr>
              <a:defRPr sz="1800"/>
            </a:lvl7pPr>
            <a:lvl8pPr>
              <a:defRPr sz="1800"/>
            </a:lvl8pPr>
            <a:lvl9pPr>
              <a:defRPr sz="18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Content Placeholder 3"/>
          <p:cNvSpPr>
            <a:spLocks noGrp="1"/>
          </p:cNvSpPr>
          <p:nvPr>
            <p:ph sz="half" idx="2"/>
          </p:nvPr>
        </p:nvSpPr>
        <p:spPr>
          <a:xfrm>
            <a:off x="4648200" y="1600200"/>
            <a:ext cx="4038600" cy="4525963"/>
          </a:xfrm>
        </p:spPr>
        <p:txBody>
          <a:bodyPr/>
          <a:lstStyle>
            <a:lvl1pPr>
              <a:defRPr sz="2800"/>
            </a:lvl1pPr>
            <a:lvl2pPr>
              <a:defRPr sz="2400"/>
            </a:lvl2pPr>
            <a:lvl3pPr>
              <a:defRPr sz="2000"/>
            </a:lvl3pPr>
            <a:lvl4pPr>
              <a:defRPr sz="1800"/>
            </a:lvl4pPr>
            <a:lvl5pPr>
              <a:defRPr sz="1800"/>
            </a:lvl5pPr>
            <a:lvl6pPr>
              <a:defRPr sz="1800"/>
            </a:lvl6pPr>
            <a:lvl7pPr>
              <a:defRPr sz="1800"/>
            </a:lvl7pPr>
            <a:lvl8pPr>
              <a:defRPr sz="1800"/>
            </a:lvl8pPr>
            <a:lvl9pPr>
              <a:defRPr sz="18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5" name="Date Placeholder 4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782244947"/>
      </p:ext>
    </p:extLst>
  </p:cSld>
  <p:clrMapOvr>
    <a:masterClrMapping/>
  </p:clrMapOvr>
</p:sldLayout>
</file>

<file path=ppt/slideLayouts/slideLayout5.xml><?xml version="1.0" encoding="utf-8"?>
<p:sldLayout xmlns:a="http://schemas.openxmlformats.org/drawingml/2006/main" xmlns:r="http://schemas.openxmlformats.org/officeDocument/2006/relationships" xmlns:p="http://schemas.openxmlformats.org/presentationml/2006/main" type="twoTxTwoObj" preserve="1">
  <p:cSld name="Comparis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>
            <a:lvl1pPr>
              <a:defRPr/>
            </a:lvl1pPr>
          </a:lstStyle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Text Placeholder 2"/>
          <p:cNvSpPr>
            <a:spLocks noGrp="1"/>
          </p:cNvSpPr>
          <p:nvPr>
            <p:ph type="body" idx="1"/>
          </p:nvPr>
        </p:nvSpPr>
        <p:spPr>
          <a:xfrm>
            <a:off x="457200" y="1535113"/>
            <a:ext cx="4040188" cy="639762"/>
          </a:xfrm>
        </p:spPr>
        <p:txBody>
          <a:bodyPr anchor="b"/>
          <a:lstStyle>
            <a:lvl1pPr marL="0" indent="0">
              <a:buNone/>
              <a:defRPr sz="2400" b="1"/>
            </a:lvl1pPr>
            <a:lvl2pPr marL="457200" indent="0">
              <a:buNone/>
              <a:defRPr sz="2000" b="1"/>
            </a:lvl2pPr>
            <a:lvl3pPr marL="914400" indent="0">
              <a:buNone/>
              <a:defRPr sz="1800" b="1"/>
            </a:lvl3pPr>
            <a:lvl4pPr marL="1371600" indent="0">
              <a:buNone/>
              <a:defRPr sz="1600" b="1"/>
            </a:lvl4pPr>
            <a:lvl5pPr marL="1828800" indent="0">
              <a:buNone/>
              <a:defRPr sz="1600" b="1"/>
            </a:lvl5pPr>
            <a:lvl6pPr marL="2286000" indent="0">
              <a:buNone/>
              <a:defRPr sz="1600" b="1"/>
            </a:lvl6pPr>
            <a:lvl7pPr marL="2743200" indent="0">
              <a:buNone/>
              <a:defRPr sz="1600" b="1"/>
            </a:lvl7pPr>
            <a:lvl8pPr marL="3200400" indent="0">
              <a:buNone/>
              <a:defRPr sz="1600" b="1"/>
            </a:lvl8pPr>
            <a:lvl9pPr marL="3657600" indent="0">
              <a:buNone/>
              <a:defRPr sz="1600" b="1"/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4" name="Content Placeholder 3"/>
          <p:cNvSpPr>
            <a:spLocks noGrp="1"/>
          </p:cNvSpPr>
          <p:nvPr>
            <p:ph sz="half" idx="2"/>
          </p:nvPr>
        </p:nvSpPr>
        <p:spPr>
          <a:xfrm>
            <a:off x="457200" y="2174875"/>
            <a:ext cx="4040188" cy="3951288"/>
          </a:xfrm>
        </p:spPr>
        <p:txBody>
          <a:bodyPr/>
          <a:lstStyle>
            <a:lvl1pPr>
              <a:defRPr sz="2400"/>
            </a:lvl1pPr>
            <a:lvl2pPr>
              <a:defRPr sz="2000"/>
            </a:lvl2pPr>
            <a:lvl3pPr>
              <a:defRPr sz="1800"/>
            </a:lvl3pPr>
            <a:lvl4pPr>
              <a:defRPr sz="1600"/>
            </a:lvl4pPr>
            <a:lvl5pPr>
              <a:defRPr sz="1600"/>
            </a:lvl5pPr>
            <a:lvl6pPr>
              <a:defRPr sz="1600"/>
            </a:lvl6pPr>
            <a:lvl7pPr>
              <a:defRPr sz="1600"/>
            </a:lvl7pPr>
            <a:lvl8pPr>
              <a:defRPr sz="1600"/>
            </a:lvl8pPr>
            <a:lvl9pPr>
              <a:defRPr sz="16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5" name="Text Placeholder 4"/>
          <p:cNvSpPr>
            <a:spLocks noGrp="1"/>
          </p:cNvSpPr>
          <p:nvPr>
            <p:ph type="body" sz="quarter" idx="3"/>
          </p:nvPr>
        </p:nvSpPr>
        <p:spPr>
          <a:xfrm>
            <a:off x="4645025" y="1535113"/>
            <a:ext cx="4041775" cy="639762"/>
          </a:xfrm>
        </p:spPr>
        <p:txBody>
          <a:bodyPr anchor="b"/>
          <a:lstStyle>
            <a:lvl1pPr marL="0" indent="0">
              <a:buNone/>
              <a:defRPr sz="2400" b="1"/>
            </a:lvl1pPr>
            <a:lvl2pPr marL="457200" indent="0">
              <a:buNone/>
              <a:defRPr sz="2000" b="1"/>
            </a:lvl2pPr>
            <a:lvl3pPr marL="914400" indent="0">
              <a:buNone/>
              <a:defRPr sz="1800" b="1"/>
            </a:lvl3pPr>
            <a:lvl4pPr marL="1371600" indent="0">
              <a:buNone/>
              <a:defRPr sz="1600" b="1"/>
            </a:lvl4pPr>
            <a:lvl5pPr marL="1828800" indent="0">
              <a:buNone/>
              <a:defRPr sz="1600" b="1"/>
            </a:lvl5pPr>
            <a:lvl6pPr marL="2286000" indent="0">
              <a:buNone/>
              <a:defRPr sz="1600" b="1"/>
            </a:lvl6pPr>
            <a:lvl7pPr marL="2743200" indent="0">
              <a:buNone/>
              <a:defRPr sz="1600" b="1"/>
            </a:lvl7pPr>
            <a:lvl8pPr marL="3200400" indent="0">
              <a:buNone/>
              <a:defRPr sz="1600" b="1"/>
            </a:lvl8pPr>
            <a:lvl9pPr marL="3657600" indent="0">
              <a:buNone/>
              <a:defRPr sz="1600" b="1"/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6" name="Content Placeholder 5"/>
          <p:cNvSpPr>
            <a:spLocks noGrp="1"/>
          </p:cNvSpPr>
          <p:nvPr>
            <p:ph sz="quarter" idx="4"/>
          </p:nvPr>
        </p:nvSpPr>
        <p:spPr>
          <a:xfrm>
            <a:off x="4645025" y="2174875"/>
            <a:ext cx="4041775" cy="3951288"/>
          </a:xfrm>
        </p:spPr>
        <p:txBody>
          <a:bodyPr/>
          <a:lstStyle>
            <a:lvl1pPr>
              <a:defRPr sz="2400"/>
            </a:lvl1pPr>
            <a:lvl2pPr>
              <a:defRPr sz="2000"/>
            </a:lvl2pPr>
            <a:lvl3pPr>
              <a:defRPr sz="1800"/>
            </a:lvl3pPr>
            <a:lvl4pPr>
              <a:defRPr sz="1600"/>
            </a:lvl4pPr>
            <a:lvl5pPr>
              <a:defRPr sz="1600"/>
            </a:lvl5pPr>
            <a:lvl6pPr>
              <a:defRPr sz="1600"/>
            </a:lvl6pPr>
            <a:lvl7pPr>
              <a:defRPr sz="1600"/>
            </a:lvl7pPr>
            <a:lvl8pPr>
              <a:defRPr sz="1600"/>
            </a:lvl8pPr>
            <a:lvl9pPr>
              <a:defRPr sz="16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7" name="Date Placeholder 6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8" name="Footer Placeholder 7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9" name="Slide Number Placeholder 8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990158736"/>
      </p:ext>
    </p:extLst>
  </p:cSld>
  <p:clrMapOvr>
    <a:masterClrMapping/>
  </p:clrMapOvr>
</p:sldLayout>
</file>

<file path=ppt/slideLayouts/slideLayout6.xml><?xml version="1.0" encoding="utf-8"?>
<p:sldLayout xmlns:a="http://schemas.openxmlformats.org/drawingml/2006/main" xmlns:r="http://schemas.openxmlformats.org/officeDocument/2006/relationships" xmlns:p="http://schemas.openxmlformats.org/presentationml/2006/main" type="titleOnly" preserve="1">
  <p:cSld name="Title Only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Date Placeholder 2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4" name="Footer Placeholder 3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5" name="Slide Number Placeholder 4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727027711"/>
      </p:ext>
    </p:extLst>
  </p:cSld>
  <p:clrMapOvr>
    <a:masterClrMapping/>
  </p:clrMapOvr>
</p:sldLayout>
</file>

<file path=ppt/slideLayouts/slideLayout7.xml><?xml version="1.0" encoding="utf-8"?>
<p:sldLayout xmlns:a="http://schemas.openxmlformats.org/drawingml/2006/main" xmlns:r="http://schemas.openxmlformats.org/officeDocument/2006/relationships" xmlns:p="http://schemas.openxmlformats.org/presentationml/2006/main" type="blank" preserve="1">
  <p:cSld name="Blank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Date Placeholder 1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3" name="Footer Placeholder 2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212999818"/>
      </p:ext>
    </p:extLst>
  </p:cSld>
  <p:clrMapOvr>
    <a:masterClrMapping/>
  </p:clrMapOvr>
</p:sldLayout>
</file>

<file path=ppt/slideLayouts/slideLayout8.xml><?xml version="1.0" encoding="utf-8"?>
<p:sldLayout xmlns:a="http://schemas.openxmlformats.org/drawingml/2006/main" xmlns:r="http://schemas.openxmlformats.org/officeDocument/2006/relationships" xmlns:p="http://schemas.openxmlformats.org/presentationml/2006/main" type="objTx" preserve="1">
  <p:cSld name="Content with Capti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457200" y="273050"/>
            <a:ext cx="3008313" cy="1162050"/>
          </a:xfrm>
        </p:spPr>
        <p:txBody>
          <a:bodyPr anchor="b"/>
          <a:lstStyle>
            <a:lvl1pPr algn="l">
              <a:defRPr sz="2000" b="1"/>
            </a:lvl1pPr>
          </a:lstStyle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>
          <a:xfrm>
            <a:off x="3575050" y="273050"/>
            <a:ext cx="5111750" cy="5853113"/>
          </a:xfrm>
        </p:spPr>
        <p:txBody>
          <a:bodyPr/>
          <a:lstStyle>
            <a:lvl1pPr>
              <a:defRPr sz="3200"/>
            </a:lvl1pPr>
            <a:lvl2pPr>
              <a:defRPr sz="2800"/>
            </a:lvl2pPr>
            <a:lvl3pPr>
              <a:defRPr sz="2400"/>
            </a:lvl3pPr>
            <a:lvl4pPr>
              <a:defRPr sz="2000"/>
            </a:lvl4pPr>
            <a:lvl5pPr>
              <a:defRPr sz="2000"/>
            </a:lvl5pPr>
            <a:lvl6pPr>
              <a:defRPr sz="2000"/>
            </a:lvl6pPr>
            <a:lvl7pPr>
              <a:defRPr sz="2000"/>
            </a:lvl7pPr>
            <a:lvl8pPr>
              <a:defRPr sz="2000"/>
            </a:lvl8pPr>
            <a:lvl9pPr>
              <a:defRPr sz="20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Text Placeholder 3"/>
          <p:cNvSpPr>
            <a:spLocks noGrp="1"/>
          </p:cNvSpPr>
          <p:nvPr>
            <p:ph type="body" sz="half" idx="2"/>
          </p:nvPr>
        </p:nvSpPr>
        <p:spPr>
          <a:xfrm>
            <a:off x="457200" y="1435100"/>
            <a:ext cx="3008313" cy="4691063"/>
          </a:xfrm>
        </p:spPr>
        <p:txBody>
          <a:bodyPr/>
          <a:lstStyle>
            <a:lvl1pPr marL="0" indent="0">
              <a:buNone/>
              <a:defRPr sz="1400"/>
            </a:lvl1pPr>
            <a:lvl2pPr marL="457200" indent="0">
              <a:buNone/>
              <a:defRPr sz="1200"/>
            </a:lvl2pPr>
            <a:lvl3pPr marL="914400" indent="0">
              <a:buNone/>
              <a:defRPr sz="1000"/>
            </a:lvl3pPr>
            <a:lvl4pPr marL="1371600" indent="0">
              <a:buNone/>
              <a:defRPr sz="900"/>
            </a:lvl4pPr>
            <a:lvl5pPr marL="1828800" indent="0">
              <a:buNone/>
              <a:defRPr sz="900"/>
            </a:lvl5pPr>
            <a:lvl6pPr marL="2286000" indent="0">
              <a:buNone/>
              <a:defRPr sz="900"/>
            </a:lvl6pPr>
            <a:lvl7pPr marL="2743200" indent="0">
              <a:buNone/>
              <a:defRPr sz="900"/>
            </a:lvl7pPr>
            <a:lvl8pPr marL="3200400" indent="0">
              <a:buNone/>
              <a:defRPr sz="900"/>
            </a:lvl8pPr>
            <a:lvl9pPr marL="3657600" indent="0">
              <a:buNone/>
              <a:defRPr sz="900"/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5" name="Date Placeholder 4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840726560"/>
      </p:ext>
    </p:extLst>
  </p:cSld>
  <p:clrMapOvr>
    <a:masterClrMapping/>
  </p:clrMapOvr>
</p:sldLayout>
</file>

<file path=ppt/slideLayouts/slideLayout9.xml><?xml version="1.0" encoding="utf-8"?>
<p:sldLayout xmlns:a="http://schemas.openxmlformats.org/drawingml/2006/main" xmlns:r="http://schemas.openxmlformats.org/officeDocument/2006/relationships" xmlns:p="http://schemas.openxmlformats.org/presentationml/2006/main" type="picTx" preserve="1">
  <p:cSld name="Picture with Capti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1792288" y="4800600"/>
            <a:ext cx="5486400" cy="566738"/>
          </a:xfrm>
        </p:spPr>
        <p:txBody>
          <a:bodyPr anchor="b"/>
          <a:lstStyle>
            <a:lvl1pPr algn="l">
              <a:defRPr sz="2000" b="1"/>
            </a:lvl1pPr>
          </a:lstStyle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Picture Placeholder 2"/>
          <p:cNvSpPr>
            <a:spLocks noGrp="1"/>
          </p:cNvSpPr>
          <p:nvPr>
            <p:ph type="pic" idx="1"/>
          </p:nvPr>
        </p:nvSpPr>
        <p:spPr>
          <a:xfrm>
            <a:off x="1792288" y="612775"/>
            <a:ext cx="5486400" cy="4114800"/>
          </a:xfrm>
        </p:spPr>
        <p:txBody>
          <a:bodyPr/>
          <a:lstStyle>
            <a:lvl1pPr marL="0" indent="0">
              <a:buNone/>
              <a:defRPr sz="3200"/>
            </a:lvl1pPr>
            <a:lvl2pPr marL="457200" indent="0">
              <a:buNone/>
              <a:defRPr sz="2800"/>
            </a:lvl2pPr>
            <a:lvl3pPr marL="914400" indent="0">
              <a:buNone/>
              <a:defRPr sz="2400"/>
            </a:lvl3pPr>
            <a:lvl4pPr marL="1371600" indent="0">
              <a:buNone/>
              <a:defRPr sz="2000"/>
            </a:lvl4pPr>
            <a:lvl5pPr marL="1828800" indent="0">
              <a:buNone/>
              <a:defRPr sz="2000"/>
            </a:lvl5pPr>
            <a:lvl6pPr marL="2286000" indent="0">
              <a:buNone/>
              <a:defRPr sz="2000"/>
            </a:lvl6pPr>
            <a:lvl7pPr marL="2743200" indent="0">
              <a:buNone/>
              <a:defRPr sz="2000"/>
            </a:lvl7pPr>
            <a:lvl8pPr marL="3200400" indent="0">
              <a:buNone/>
              <a:defRPr sz="2000"/>
            </a:lvl8pPr>
            <a:lvl9pPr marL="3657600" indent="0">
              <a:buNone/>
              <a:defRPr sz="2000"/>
            </a:lvl9pPr>
          </a:lstStyle>
          <a:p>
            <a:endParaRPr lang="en-US"/>
          </a:p>
        </p:txBody>
      </p:sp>
      <p:sp>
        <p:nvSpPr>
          <p:cNvPr id="4" name="Text Placeholder 3"/>
          <p:cNvSpPr>
            <a:spLocks noGrp="1"/>
          </p:cNvSpPr>
          <p:nvPr>
            <p:ph type="body" sz="half" idx="2"/>
          </p:nvPr>
        </p:nvSpPr>
        <p:spPr>
          <a:xfrm>
            <a:off x="1792288" y="5367338"/>
            <a:ext cx="5486400" cy="804862"/>
          </a:xfrm>
        </p:spPr>
        <p:txBody>
          <a:bodyPr/>
          <a:lstStyle>
            <a:lvl1pPr marL="0" indent="0">
              <a:buNone/>
              <a:defRPr sz="1400"/>
            </a:lvl1pPr>
            <a:lvl2pPr marL="457200" indent="0">
              <a:buNone/>
              <a:defRPr sz="1200"/>
            </a:lvl2pPr>
            <a:lvl3pPr marL="914400" indent="0">
              <a:buNone/>
              <a:defRPr sz="1000"/>
            </a:lvl3pPr>
            <a:lvl4pPr marL="1371600" indent="0">
              <a:buNone/>
              <a:defRPr sz="900"/>
            </a:lvl4pPr>
            <a:lvl5pPr marL="1828800" indent="0">
              <a:buNone/>
              <a:defRPr sz="900"/>
            </a:lvl5pPr>
            <a:lvl6pPr marL="2286000" indent="0">
              <a:buNone/>
              <a:defRPr sz="900"/>
            </a:lvl6pPr>
            <a:lvl7pPr marL="2743200" indent="0">
              <a:buNone/>
              <a:defRPr sz="900"/>
            </a:lvl7pPr>
            <a:lvl8pPr marL="3200400" indent="0">
              <a:buNone/>
              <a:defRPr sz="900"/>
            </a:lvl8pPr>
            <a:lvl9pPr marL="3657600" indent="0">
              <a:buNone/>
              <a:defRPr sz="900"/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5" name="Date Placeholder 4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3889236939"/>
      </p:ext>
    </p:extLst>
  </p:cSld>
  <p:clrMapOvr>
    <a:masterClrMapping/>
  </p:clrMapOvr>
</p:sldLayout>
</file>

<file path=ppt/slideLayouts/slideLayout10.xml><?xml version="1.0" encoding="utf-8"?>
<p:sldLayout xmlns:a="http://schemas.openxmlformats.org/drawingml/2006/main" xmlns:r="http://schemas.openxmlformats.org/officeDocument/2006/relationships" xmlns:p="http://schemas.openxmlformats.org/presentationml/2006/main" type="vertTx" preserve="1">
  <p:cSld name="Title and Vertical Tex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Vertical Text Placeholder 2"/>
          <p:cNvSpPr>
            <a:spLocks noGrp="1"/>
          </p:cNvSpPr>
          <p:nvPr>
            <p:ph type="body" orient="vert" idx="1"/>
          </p:nvPr>
        </p:nvSpPr>
        <p:spPr/>
        <p:txBody>
          <a:bodyPr vert="eaVert"/>
          <a:lstStyle/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910927964"/>
      </p:ext>
    </p:extLst>
  </p:cSld>
  <p:clrMapOvr>
    <a:masterClrMapping/>
  </p:clrMapOvr>
</p:sldLayout>
</file>

<file path=ppt/slideLayouts/slideLayout11.xml><?xml version="1.0" encoding="utf-8"?>
<p:sldLayout xmlns:a="http://schemas.openxmlformats.org/drawingml/2006/main" xmlns:r="http://schemas.openxmlformats.org/officeDocument/2006/relationships" xmlns:p="http://schemas.openxmlformats.org/presentationml/2006/main" type="vertTitleAndTx" preserve="1">
  <p:cSld name="Vertical Title and Tex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Vertical Title 1"/>
          <p:cNvSpPr>
            <a:spLocks noGrp="1"/>
          </p:cNvSpPr>
          <p:nvPr>
            <p:ph type="title" orient="vert"/>
          </p:nvPr>
        </p:nvSpPr>
        <p:spPr>
          <a:xfrm>
            <a:off x="6629400" y="274638"/>
            <a:ext cx="2057400" cy="5851525"/>
          </a:xfrm>
        </p:spPr>
        <p:txBody>
          <a:bodyPr vert="eaVert"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Vertical Text Placeholder 2"/>
          <p:cNvSpPr>
            <a:spLocks noGrp="1"/>
          </p:cNvSpPr>
          <p:nvPr>
            <p:ph type="body" orient="vert" idx="1"/>
          </p:nvPr>
        </p:nvSpPr>
        <p:spPr>
          <a:xfrm>
            <a:off x="457200" y="274638"/>
            <a:ext cx="6019800" cy="5851525"/>
          </a:xfrm>
        </p:spPr>
        <p:txBody>
          <a:bodyPr vert="eaVert"/>
          <a:lstStyle/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3612223792"/>
      </p:ext>
    </p:extLst>
  </p:cSld>
  <p:clrMapOvr>
    <a:masterClrMapping/>
  </p:clrMapOvr>
</p:sldLayout>
</file>

<file path=ppt/slideMasters/_rels/slideMaster1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slideLayout" Target="../slideLayouts/slideLayout2.xml"/><Relationship Id="rId3" Type="http://schemas.openxmlformats.org/officeDocument/2006/relationships/slideLayout" Target="../slideLayouts/slideLayout3.xml"/><Relationship Id="rId4" Type="http://schemas.openxmlformats.org/officeDocument/2006/relationships/slideLayout" Target="../slideLayouts/slideLayout4.xml"/><Relationship Id="rId5" Type="http://schemas.openxmlformats.org/officeDocument/2006/relationships/slideLayout" Target="../slideLayouts/slideLayout5.xml"/><Relationship Id="rId6" Type="http://schemas.openxmlformats.org/officeDocument/2006/relationships/slideLayout" Target="../slideLayouts/slideLayout6.xml"/><Relationship Id="rId7" Type="http://schemas.openxmlformats.org/officeDocument/2006/relationships/slideLayout" Target="../slideLayouts/slideLayout7.xml"/><Relationship Id="rId8" Type="http://schemas.openxmlformats.org/officeDocument/2006/relationships/slideLayout" Target="../slideLayouts/slideLayout8.xml"/><Relationship Id="rId9" Type="http://schemas.openxmlformats.org/officeDocument/2006/relationships/slideLayout" Target="../slideLayouts/slideLayout9.xml"/><Relationship Id="rId10" Type="http://schemas.openxmlformats.org/officeDocument/2006/relationships/slideLayout" Target="../slideLayouts/slideLayout10.xml"/><Relationship Id="rId11" Type="http://schemas.openxmlformats.org/officeDocument/2006/relationships/slideLayout" Target="../slideLayouts/slideLayout11.xml"/><Relationship Id="rId12" Type="http://schemas.openxmlformats.org/officeDocument/2006/relationships/theme" Target="../theme/theme1.xml"/></Relationships>
</file>

<file path=ppt/slideMasters/slideMaster1.xml><?xml version="1.0" encoding="utf-8"?>
<p:sldMaster xmlns:a="http://schemas.openxmlformats.org/drawingml/2006/main" xmlns:r="http://schemas.openxmlformats.org/officeDocument/2006/relationships" xmlns:p="http://schemas.openxmlformats.org/presentationml/2006/main">
  <p:cSld>
    <p:bg>
      <p:bgRef idx="1001">
        <a:schemeClr val="bg1"/>
      </p:bgRef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Placeholder 1"/>
          <p:cNvSpPr>
            <a:spLocks noGrp="1"/>
          </p:cNvSpPr>
          <p:nvPr>
            <p:ph type="title"/>
          </p:nvPr>
        </p:nvSpPr>
        <p:spPr>
          <a:xfrm>
            <a:off x="457200" y="274638"/>
            <a:ext cx="8229600" cy="1143000"/>
          </a:xfrm>
          <a:prstGeom prst="rect">
            <a:avLst/>
          </a:prstGeom>
        </p:spPr>
        <p:txBody>
          <a:bodyPr vert="horz" lIns="91440" tIns="45720" rIns="91440" bIns="45720" rtlCol="0" anchor="ctr">
            <a:normAutofit/>
          </a:bodyPr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Text Placeholder 2"/>
          <p:cNvSpPr>
            <a:spLocks noGrp="1"/>
          </p:cNvSpPr>
          <p:nvPr>
            <p:ph type="body" idx="1"/>
          </p:nvPr>
        </p:nvSpPr>
        <p:spPr>
          <a:xfrm>
            <a:off x="457200" y="1600200"/>
            <a:ext cx="8229600" cy="4525963"/>
          </a:xfrm>
          <a:prstGeom prst="rect">
            <a:avLst/>
          </a:prstGeom>
        </p:spPr>
        <p:txBody>
          <a:bodyPr vert="horz" lIns="91440" tIns="45720" rIns="91440" bIns="45720" rtlCol="0">
            <a:normAutofit/>
          </a:bodyPr>
          <a:lstStyle/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2"/>
          </p:nvPr>
        </p:nvSpPr>
        <p:spPr>
          <a:xfrm>
            <a:off x="457200" y="6356350"/>
            <a:ext cx="21336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l">
              <a:defRPr sz="120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3"/>
          </p:nvPr>
        </p:nvSpPr>
        <p:spPr>
          <a:xfrm>
            <a:off x="3124200" y="6356350"/>
            <a:ext cx="28956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ctr">
              <a:defRPr sz="120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4"/>
          </p:nvPr>
        </p:nvSpPr>
        <p:spPr>
          <a:xfrm>
            <a:off x="6553200" y="6356350"/>
            <a:ext cx="21336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r">
              <a:defRPr sz="120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209977519"/>
      </p:ext>
    </p:extLst>
  </p:cSld>
  <p:clrMap bg1="lt1" tx1="dk1" bg2="lt2" tx2="dk2" accent1="accent1" accent2="accent2" accent3="accent3" accent4="accent4" accent5="accent5" accent6="accent6" hlink="hlink" folHlink="folHlink"/>
  <p:sldLayoutIdLst>
    <p:sldLayoutId id="2147483649" r:id="rId1"/>
    <p:sldLayoutId id="2147483650" r:id="rId2"/>
    <p:sldLayoutId id="2147483651" r:id="rId3"/>
    <p:sldLayoutId id="2147483652" r:id="rId4"/>
    <p:sldLayoutId id="2147483653" r:id="rId5"/>
    <p:sldLayoutId id="2147483654" r:id="rId6"/>
    <p:sldLayoutId id="2147483655" r:id="rId7"/>
    <p:sldLayoutId id="2147483656" r:id="rId8"/>
    <p:sldLayoutId id="2147483657" r:id="rId9"/>
    <p:sldLayoutId id="2147483658" r:id="rId10"/>
    <p:sldLayoutId id="2147483659" r:id="rId11"/>
  </p:sldLayoutIdLst>
  <p:txStyles>
    <p:titleStyle>
      <a:lvl1pPr algn="ctr" defTabSz="457200" rtl="0" eaLnBrk="1" latinLnBrk="0" hangingPunct="1">
        <a:spcBef>
          <a:spcPct val="0"/>
        </a:spcBef>
        <a:buNone/>
        <a:defRPr sz="4400" kern="1200">
          <a:solidFill>
            <a:schemeClr val="tx1"/>
          </a:solidFill>
          <a:latin typeface="+mj-lt"/>
          <a:ea typeface="+mj-ea"/>
          <a:cs typeface="+mj-cs"/>
        </a:defRPr>
      </a:lvl1pPr>
    </p:titleStyle>
    <p:bodyStyle>
      <a:lvl1pPr marL="342900" indent="-342900" algn="l" defTabSz="457200" rtl="0" eaLnBrk="1" latinLnBrk="0" hangingPunct="1">
        <a:spcBef>
          <a:spcPct val="20000"/>
        </a:spcBef>
        <a:buFont typeface="Arial"/>
        <a:buChar char="•"/>
        <a:defRPr sz="3200" kern="1200">
          <a:solidFill>
            <a:schemeClr val="tx1"/>
          </a:solidFill>
          <a:latin typeface="+mn-lt"/>
          <a:ea typeface="+mn-ea"/>
          <a:cs typeface="+mn-cs"/>
        </a:defRPr>
      </a:lvl1pPr>
      <a:lvl2pPr marL="742950" indent="-285750" algn="l" defTabSz="457200" rtl="0" eaLnBrk="1" latinLnBrk="0" hangingPunct="1">
        <a:spcBef>
          <a:spcPct val="20000"/>
        </a:spcBef>
        <a:buFont typeface="Arial"/>
        <a:buChar char="–"/>
        <a:defRPr sz="2800" kern="1200">
          <a:solidFill>
            <a:schemeClr val="tx1"/>
          </a:solidFill>
          <a:latin typeface="+mn-lt"/>
          <a:ea typeface="+mn-ea"/>
          <a:cs typeface="+mn-cs"/>
        </a:defRPr>
      </a:lvl2pPr>
      <a:lvl3pPr marL="1143000" indent="-228600" algn="l" defTabSz="457200" rtl="0" eaLnBrk="1" latinLnBrk="0" hangingPunct="1">
        <a:spcBef>
          <a:spcPct val="20000"/>
        </a:spcBef>
        <a:buFont typeface="Arial"/>
        <a:buChar char="•"/>
        <a:defRPr sz="2400" kern="1200">
          <a:solidFill>
            <a:schemeClr val="tx1"/>
          </a:solidFill>
          <a:latin typeface="+mn-lt"/>
          <a:ea typeface="+mn-ea"/>
          <a:cs typeface="+mn-cs"/>
        </a:defRPr>
      </a:lvl3pPr>
      <a:lvl4pPr marL="1600200" indent="-228600" algn="l" defTabSz="457200" rtl="0" eaLnBrk="1" latinLnBrk="0" hangingPunct="1">
        <a:spcBef>
          <a:spcPct val="20000"/>
        </a:spcBef>
        <a:buFont typeface="Arial"/>
        <a:buChar char="–"/>
        <a:defRPr sz="2000" kern="1200">
          <a:solidFill>
            <a:schemeClr val="tx1"/>
          </a:solidFill>
          <a:latin typeface="+mn-lt"/>
          <a:ea typeface="+mn-ea"/>
          <a:cs typeface="+mn-cs"/>
        </a:defRPr>
      </a:lvl4pPr>
      <a:lvl5pPr marL="2057400" indent="-228600" algn="l" defTabSz="457200" rtl="0" eaLnBrk="1" latinLnBrk="0" hangingPunct="1">
        <a:spcBef>
          <a:spcPct val="20000"/>
        </a:spcBef>
        <a:buFont typeface="Arial"/>
        <a:buChar char="»"/>
        <a:defRPr sz="2000" kern="1200">
          <a:solidFill>
            <a:schemeClr val="tx1"/>
          </a:solidFill>
          <a:latin typeface="+mn-lt"/>
          <a:ea typeface="+mn-ea"/>
          <a:cs typeface="+mn-cs"/>
        </a:defRPr>
      </a:lvl5pPr>
      <a:lvl6pPr marL="2514600" indent="-228600" algn="l" defTabSz="457200" rtl="0" eaLnBrk="1" latinLnBrk="0" hangingPunct="1">
        <a:spcBef>
          <a:spcPct val="20000"/>
        </a:spcBef>
        <a:buFont typeface="Arial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6pPr>
      <a:lvl7pPr marL="2971800" indent="-228600" algn="l" defTabSz="457200" rtl="0" eaLnBrk="1" latinLnBrk="0" hangingPunct="1">
        <a:spcBef>
          <a:spcPct val="20000"/>
        </a:spcBef>
        <a:buFont typeface="Arial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7pPr>
      <a:lvl8pPr marL="3429000" indent="-228600" algn="l" defTabSz="457200" rtl="0" eaLnBrk="1" latinLnBrk="0" hangingPunct="1">
        <a:spcBef>
          <a:spcPct val="20000"/>
        </a:spcBef>
        <a:buFont typeface="Arial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8pPr>
      <a:lvl9pPr marL="3886200" indent="-228600" algn="l" defTabSz="457200" rtl="0" eaLnBrk="1" latinLnBrk="0" hangingPunct="1">
        <a:spcBef>
          <a:spcPct val="20000"/>
        </a:spcBef>
        <a:buFont typeface="Arial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9pPr>
    </p:bodyStyle>
    <p:otherStyle>
      <a:defPPr>
        <a:defRPr lang="en-US"/>
      </a:defPPr>
      <a:lvl1pPr marL="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1pPr>
      <a:lvl2pPr marL="4572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2pPr>
      <a:lvl3pPr marL="9144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3pPr>
      <a:lvl4pPr marL="13716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4pPr>
      <a:lvl5pPr marL="18288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5pPr>
      <a:lvl6pPr marL="22860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6pPr>
      <a:lvl7pPr marL="27432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7pPr>
      <a:lvl8pPr marL="32004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8pPr>
      <a:lvl9pPr marL="36576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9pPr>
    </p:otherStyle>
  </p:txStyles>
</p:sldMaster>
</file>

<file path=ppt/slides/_rels/slide1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2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image" Target="../media/image1.png"/></Relationships>
</file>

<file path=ppt/slides/_rels/slide3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4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5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6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image" Target="../media/image2.png"/><Relationship Id="rId3" Type="http://schemas.openxmlformats.org/officeDocument/2006/relationships/image" Target="../media/image3.png"/><Relationship Id="rId4" Type="http://schemas.openxmlformats.org/officeDocument/2006/relationships/image" Target="../media/image4.png"/></Relationships>
</file>

<file path=ppt/slides/_rels/slide7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image" Target="../media/image5.png"/></Relationships>
</file>

<file path=ppt/slides/_rels/slide8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image" Target="../media/image6.png"/></Relationships>
</file>

<file path=ppt/slides/_rels/slide9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10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11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image" Target="../media/image7.png"/></Relationships>
</file>

<file path=ppt/slides/_rels/slide12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13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14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slide1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F8F9FA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2" name="TextBox 1"/>
          <p:cNvSpPr txBox="1"/>
          <p:nvPr/>
        </p:nvSpPr>
        <p:spPr>
          <a:xfrm>
            <a:off x="502920" y="320040"/>
            <a:ext cx="8229600" cy="1005840"/>
          </a:xfrm>
          <a:prstGeom prst="rect">
            <a:avLst/>
          </a:prstGeom>
          <a:noFill/>
        </p:spPr>
        <p:txBody>
          <a:bodyPr wrap="none" lIns="36576" rIns="36576" tIns="18288" bIns="18288" anchor="t">
            <a:spAutoFit/>
          </a:bodyPr>
          <a:lstStyle/>
          <a:p>
            <a:pPr algn="l"/>
            <a:r>
              <a:rPr sz="2800" b="1">
                <a:solidFill>
                  <a:srgbClr val="20252A"/>
                </a:solidFill>
                <a:latin typeface="Aptos"/>
              </a:rPr>
              <a:t>STREAM learns developmental vector fields from cell state and regulatory sequence</a:t>
            </a:r>
          </a:p>
        </p:txBody>
      </p:sp>
      <p:sp>
        <p:nvSpPr>
          <p:cNvPr id="3" name="TextBox 2"/>
          <p:cNvSpPr txBox="1"/>
          <p:nvPr/>
        </p:nvSpPr>
        <p:spPr>
          <a:xfrm>
            <a:off x="530352" y="1261872"/>
            <a:ext cx="8229600" cy="320040"/>
          </a:xfrm>
          <a:prstGeom prst="rect">
            <a:avLst/>
          </a:prstGeom>
          <a:noFill/>
        </p:spPr>
        <p:txBody>
          <a:bodyPr wrap="none" lIns="36576" rIns="36576" tIns="18288" bIns="18288" anchor="t">
            <a:spAutoFit/>
          </a:bodyPr>
          <a:lstStyle/>
          <a:p>
            <a:pPr algn="l"/>
            <a:r>
              <a:rPr sz="1500" b="0">
                <a:solidFill>
                  <a:srgbClr val="5C6773"/>
                </a:solidFill>
                <a:latin typeface="Aptos"/>
              </a:rPr>
              <a:t>Multi-timepoint CFM + CRE sequence conditioning + UCE cell-state embeddings</a:t>
            </a:r>
          </a:p>
        </p:txBody>
      </p:sp>
      <p:sp>
        <p:nvSpPr>
          <p:cNvPr id="4" name="Rounded Rectangle 3"/>
          <p:cNvSpPr/>
          <p:nvPr/>
        </p:nvSpPr>
        <p:spPr>
          <a:xfrm>
            <a:off x="713232" y="2240280"/>
            <a:ext cx="2057400" cy="960120"/>
          </a:xfrm>
          <a:prstGeom prst="roundRect">
            <a:avLst/>
          </a:prstGeom>
          <a:solidFill>
            <a:srgbClr val="E1EBF7"/>
          </a:solidFill>
          <a:ln w="13970">
            <a:solidFill>
              <a:srgbClr val="3165A3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lIns="73152" rIns="73152" tIns="54864" bIns="54864"/>
          <a:lstStyle/>
          <a:p>
            <a:pPr algn="ctr"/>
            <a:r>
              <a:rPr sz="1300" b="1">
                <a:solidFill>
                  <a:srgbClr val="20252A"/>
                </a:solidFill>
                <a:latin typeface="Aptos"/>
              </a:rPr>
              <a:t>Time-resolved
single-cell atlas</a:t>
            </a:r>
          </a:p>
        </p:txBody>
      </p:sp>
      <p:sp>
        <p:nvSpPr>
          <p:cNvPr id="5" name="Rounded Rectangle 4"/>
          <p:cNvSpPr/>
          <p:nvPr/>
        </p:nvSpPr>
        <p:spPr>
          <a:xfrm>
            <a:off x="3246120" y="2240280"/>
            <a:ext cx="2057400" cy="960120"/>
          </a:xfrm>
          <a:prstGeom prst="roundRect">
            <a:avLst/>
          </a:prstGeom>
          <a:solidFill>
            <a:srgbClr val="F9EECF"/>
          </a:solidFill>
          <a:ln w="13970">
            <a:solidFill>
              <a:srgbClr val="D69E2E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lIns="73152" rIns="73152" tIns="54864" bIns="54864"/>
          <a:lstStyle/>
          <a:p>
            <a:pPr algn="ctr"/>
            <a:r>
              <a:rPr sz="1300" b="1">
                <a:solidFill>
                  <a:srgbClr val="20252A"/>
                </a:solidFill>
                <a:latin typeface="Aptos"/>
              </a:rPr>
              <a:t>Regulatory DNA
cCRE tokens</a:t>
            </a:r>
          </a:p>
        </p:txBody>
      </p:sp>
      <p:sp>
        <p:nvSpPr>
          <p:cNvPr id="6" name="Rounded Rectangle 5"/>
          <p:cNvSpPr/>
          <p:nvPr/>
        </p:nvSpPr>
        <p:spPr>
          <a:xfrm>
            <a:off x="5779008" y="2240280"/>
            <a:ext cx="2057400" cy="960120"/>
          </a:xfrm>
          <a:prstGeom prst="roundRect">
            <a:avLst/>
          </a:prstGeom>
          <a:solidFill>
            <a:srgbClr val="E0F1E5"/>
          </a:solidFill>
          <a:ln w="13970">
            <a:solidFill>
              <a:srgbClr val="539A5D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lIns="73152" rIns="73152" tIns="54864" bIns="54864"/>
          <a:lstStyle/>
          <a:p>
            <a:pPr algn="ctr"/>
            <a:r>
              <a:rPr sz="1300" b="1">
                <a:solidFill>
                  <a:srgbClr val="20252A"/>
                </a:solidFill>
                <a:latin typeface="Aptos"/>
              </a:rPr>
              <a:t>UCE or expression
cell state</a:t>
            </a:r>
          </a:p>
        </p:txBody>
      </p:sp>
      <p:sp>
        <p:nvSpPr>
          <p:cNvPr id="7" name="Rounded Rectangle 6"/>
          <p:cNvSpPr/>
          <p:nvPr/>
        </p:nvSpPr>
        <p:spPr>
          <a:xfrm>
            <a:off x="8321040" y="2240280"/>
            <a:ext cx="2057400" cy="960120"/>
          </a:xfrm>
          <a:prstGeom prst="roundRect">
            <a:avLst/>
          </a:prstGeom>
          <a:solidFill>
            <a:srgbClr val="FFFFFF"/>
          </a:solidFill>
          <a:ln w="13970">
            <a:solidFill>
              <a:srgbClr val="705DB4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lIns="73152" rIns="73152" tIns="54864" bIns="54864"/>
          <a:lstStyle/>
          <a:p>
            <a:pPr algn="ctr"/>
            <a:r>
              <a:rPr sz="1300" b="1">
                <a:solidFill>
                  <a:srgbClr val="20252A"/>
                </a:solidFill>
                <a:latin typeface="Aptos"/>
              </a:rPr>
              <a:t>Gene velocity
field</a:t>
            </a:r>
          </a:p>
        </p:txBody>
      </p:sp>
      <p:cxnSp>
        <p:nvCxnSpPr>
          <p:cNvPr id="8" name="Connector 7"/>
          <p:cNvCxnSpPr/>
          <p:nvPr/>
        </p:nvCxnSpPr>
        <p:spPr>
          <a:xfrm>
            <a:off x="2770632" y="2724912"/>
            <a:ext cx="475488" cy="0"/>
          </a:xfrm>
          <a:prstGeom prst="line">
            <a:avLst/>
          </a:prstGeom>
          <a:ln w="25400">
            <a:solidFill>
              <a:srgbClr val="5C6773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9" name="Connector 8"/>
          <p:cNvCxnSpPr/>
          <p:nvPr/>
        </p:nvCxnSpPr>
        <p:spPr>
          <a:xfrm>
            <a:off x="5303520" y="2724912"/>
            <a:ext cx="475488" cy="0"/>
          </a:xfrm>
          <a:prstGeom prst="line">
            <a:avLst/>
          </a:prstGeom>
          <a:ln w="25400">
            <a:solidFill>
              <a:srgbClr val="5C6773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10" name="Connector 9"/>
          <p:cNvCxnSpPr/>
          <p:nvPr/>
        </p:nvCxnSpPr>
        <p:spPr>
          <a:xfrm>
            <a:off x="7836408" y="2724912"/>
            <a:ext cx="484632" cy="0"/>
          </a:xfrm>
          <a:prstGeom prst="line">
            <a:avLst/>
          </a:prstGeom>
          <a:ln w="25400">
            <a:solidFill>
              <a:srgbClr val="5C6773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sp>
        <p:nvSpPr>
          <p:cNvPr id="11" name="Rectangle 10"/>
          <p:cNvSpPr/>
          <p:nvPr/>
        </p:nvSpPr>
        <p:spPr>
          <a:xfrm>
            <a:off x="822960" y="4663440"/>
            <a:ext cx="2011680" cy="960120"/>
          </a:xfrm>
          <a:prstGeom prst="rect">
            <a:avLst/>
          </a:prstGeom>
          <a:solidFill>
            <a:srgbClr val="E1EBF7"/>
          </a:solidFill>
          <a:ln w="13970">
            <a:solidFill>
              <a:srgbClr val="D2D8DE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lIns="73152" rIns="73152" tIns="54864" bIns="54864"/>
          <a:lstStyle/>
          <a:p>
            <a:pPr algn="ctr"/>
            <a:r>
              <a:rPr sz="1300" b="0">
                <a:solidFill>
                  <a:srgbClr val="20252A"/>
                </a:solidFill>
                <a:latin typeface="Aptos"/>
              </a:rPr>
              <a:t/>
            </a:r>
          </a:p>
        </p:txBody>
      </p:sp>
      <p:sp>
        <p:nvSpPr>
          <p:cNvPr id="12" name="TextBox 11"/>
          <p:cNvSpPr txBox="1"/>
          <p:nvPr/>
        </p:nvSpPr>
        <p:spPr>
          <a:xfrm>
            <a:off x="877824" y="4791455"/>
            <a:ext cx="1901952" cy="329184"/>
          </a:xfrm>
          <a:prstGeom prst="rect">
            <a:avLst/>
          </a:prstGeom>
          <a:noFill/>
        </p:spPr>
        <p:txBody>
          <a:bodyPr wrap="none" lIns="36576" rIns="36576" tIns="18288" bIns="18288" anchor="t">
            <a:spAutoFit/>
          </a:bodyPr>
          <a:lstStyle/>
          <a:p>
            <a:pPr algn="ctr"/>
            <a:r>
              <a:rPr sz="2300" b="1">
                <a:solidFill>
                  <a:srgbClr val="20252A"/>
                </a:solidFill>
                <a:latin typeface="Aptos"/>
              </a:rPr>
              <a:t>11.44M</a:t>
            </a:r>
          </a:p>
        </p:txBody>
      </p:sp>
      <p:sp>
        <p:nvSpPr>
          <p:cNvPr id="13" name="TextBox 12"/>
          <p:cNvSpPr txBox="1"/>
          <p:nvPr/>
        </p:nvSpPr>
        <p:spPr>
          <a:xfrm>
            <a:off x="896112" y="5193792"/>
            <a:ext cx="1865376" cy="365760"/>
          </a:xfrm>
          <a:prstGeom prst="rect">
            <a:avLst/>
          </a:prstGeom>
          <a:noFill/>
        </p:spPr>
        <p:txBody>
          <a:bodyPr wrap="none" lIns="36576" rIns="36576" tIns="18288" bIns="18288" anchor="t">
            <a:spAutoFit/>
          </a:bodyPr>
          <a:lstStyle/>
          <a:p>
            <a:pPr algn="ctr"/>
            <a:r>
              <a:rPr sz="1000" b="0">
                <a:solidFill>
                  <a:srgbClr val="5C6773"/>
                </a:solidFill>
                <a:latin typeface="Aptos"/>
              </a:rPr>
              <a:t>mouse atlas cells</a:t>
            </a:r>
          </a:p>
        </p:txBody>
      </p:sp>
      <p:sp>
        <p:nvSpPr>
          <p:cNvPr id="14" name="Rectangle 13"/>
          <p:cNvSpPr/>
          <p:nvPr/>
        </p:nvSpPr>
        <p:spPr>
          <a:xfrm>
            <a:off x="3154680" y="4663440"/>
            <a:ext cx="2011680" cy="960120"/>
          </a:xfrm>
          <a:prstGeom prst="rect">
            <a:avLst/>
          </a:prstGeom>
          <a:solidFill>
            <a:srgbClr val="E1EBF7"/>
          </a:solidFill>
          <a:ln w="13970">
            <a:solidFill>
              <a:srgbClr val="D2D8DE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lIns="73152" rIns="73152" tIns="54864" bIns="54864"/>
          <a:lstStyle/>
          <a:p>
            <a:pPr algn="ctr"/>
            <a:r>
              <a:rPr sz="1300" b="0">
                <a:solidFill>
                  <a:srgbClr val="20252A"/>
                </a:solidFill>
                <a:latin typeface="Aptos"/>
              </a:rPr>
              <a:t/>
            </a:r>
          </a:p>
        </p:txBody>
      </p:sp>
      <p:sp>
        <p:nvSpPr>
          <p:cNvPr id="15" name="TextBox 14"/>
          <p:cNvSpPr txBox="1"/>
          <p:nvPr/>
        </p:nvSpPr>
        <p:spPr>
          <a:xfrm>
            <a:off x="3209544" y="4791455"/>
            <a:ext cx="1901952" cy="329184"/>
          </a:xfrm>
          <a:prstGeom prst="rect">
            <a:avLst/>
          </a:prstGeom>
          <a:noFill/>
        </p:spPr>
        <p:txBody>
          <a:bodyPr wrap="none" lIns="36576" rIns="36576" tIns="18288" bIns="18288" anchor="t">
            <a:spAutoFit/>
          </a:bodyPr>
          <a:lstStyle/>
          <a:p>
            <a:pPr algn="ctr"/>
            <a:r>
              <a:rPr sz="2300" b="1">
                <a:solidFill>
                  <a:srgbClr val="20252A"/>
                </a:solidFill>
                <a:latin typeface="Aptos"/>
              </a:rPr>
              <a:t>1.23M</a:t>
            </a:r>
          </a:p>
        </p:txBody>
      </p:sp>
      <p:sp>
        <p:nvSpPr>
          <p:cNvPr id="16" name="TextBox 15"/>
          <p:cNvSpPr txBox="1"/>
          <p:nvPr/>
        </p:nvSpPr>
        <p:spPr>
          <a:xfrm>
            <a:off x="3227832" y="5193792"/>
            <a:ext cx="1865376" cy="365760"/>
          </a:xfrm>
          <a:prstGeom prst="rect">
            <a:avLst/>
          </a:prstGeom>
          <a:noFill/>
        </p:spPr>
        <p:txBody>
          <a:bodyPr wrap="none" lIns="36576" rIns="36576" tIns="18288" bIns="18288" anchor="t">
            <a:spAutoFit/>
          </a:bodyPr>
          <a:lstStyle/>
          <a:p>
            <a:pPr algn="ctr"/>
            <a:r>
              <a:rPr sz="1000" b="0">
                <a:solidFill>
                  <a:srgbClr val="5C6773"/>
                </a:solidFill>
                <a:latin typeface="Aptos"/>
              </a:rPr>
              <a:t>zebrafish control cells</a:t>
            </a:r>
          </a:p>
        </p:txBody>
      </p:sp>
      <p:sp>
        <p:nvSpPr>
          <p:cNvPr id="17" name="Rectangle 16"/>
          <p:cNvSpPr/>
          <p:nvPr/>
        </p:nvSpPr>
        <p:spPr>
          <a:xfrm>
            <a:off x="5486400" y="4663440"/>
            <a:ext cx="2011680" cy="960120"/>
          </a:xfrm>
          <a:prstGeom prst="rect">
            <a:avLst/>
          </a:prstGeom>
          <a:solidFill>
            <a:srgbClr val="F9EECF"/>
          </a:solidFill>
          <a:ln w="13970">
            <a:solidFill>
              <a:srgbClr val="D2D8DE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lIns="73152" rIns="73152" tIns="54864" bIns="54864"/>
          <a:lstStyle/>
          <a:p>
            <a:pPr algn="ctr"/>
            <a:r>
              <a:rPr sz="1300" b="0">
                <a:solidFill>
                  <a:srgbClr val="20252A"/>
                </a:solidFill>
                <a:latin typeface="Aptos"/>
              </a:rPr>
              <a:t/>
            </a:r>
          </a:p>
        </p:txBody>
      </p:sp>
      <p:sp>
        <p:nvSpPr>
          <p:cNvPr id="18" name="TextBox 17"/>
          <p:cNvSpPr txBox="1"/>
          <p:nvPr/>
        </p:nvSpPr>
        <p:spPr>
          <a:xfrm>
            <a:off x="5541264" y="4791455"/>
            <a:ext cx="1901952" cy="329184"/>
          </a:xfrm>
          <a:prstGeom prst="rect">
            <a:avLst/>
          </a:prstGeom>
          <a:noFill/>
        </p:spPr>
        <p:txBody>
          <a:bodyPr wrap="none" lIns="36576" rIns="36576" tIns="18288" bIns="18288" anchor="t">
            <a:spAutoFit/>
          </a:bodyPr>
          <a:lstStyle/>
          <a:p>
            <a:pPr algn="ctr"/>
            <a:r>
              <a:rPr sz="2300" b="1">
                <a:solidFill>
                  <a:srgbClr val="20252A"/>
                </a:solidFill>
                <a:latin typeface="Aptos"/>
              </a:rPr>
              <a:t>10k</a:t>
            </a:r>
          </a:p>
        </p:txBody>
      </p:sp>
      <p:sp>
        <p:nvSpPr>
          <p:cNvPr id="19" name="TextBox 18"/>
          <p:cNvSpPr txBox="1"/>
          <p:nvPr/>
        </p:nvSpPr>
        <p:spPr>
          <a:xfrm>
            <a:off x="5559552" y="5193792"/>
            <a:ext cx="1865376" cy="365760"/>
          </a:xfrm>
          <a:prstGeom prst="rect">
            <a:avLst/>
          </a:prstGeom>
          <a:noFill/>
        </p:spPr>
        <p:txBody>
          <a:bodyPr wrap="none" lIns="36576" rIns="36576" tIns="18288" bIns="18288" anchor="t">
            <a:spAutoFit/>
          </a:bodyPr>
          <a:lstStyle/>
          <a:p>
            <a:pPr algn="ctr"/>
            <a:r>
              <a:rPr sz="1000" b="0">
                <a:solidFill>
                  <a:srgbClr val="5C6773"/>
                </a:solidFill>
                <a:latin typeface="Aptos"/>
              </a:rPr>
              <a:t>modeled genes</a:t>
            </a:r>
          </a:p>
        </p:txBody>
      </p:sp>
      <p:sp>
        <p:nvSpPr>
          <p:cNvPr id="20" name="Rectangle 19"/>
          <p:cNvSpPr/>
          <p:nvPr/>
        </p:nvSpPr>
        <p:spPr>
          <a:xfrm>
            <a:off x="7818120" y="4663440"/>
            <a:ext cx="2743200" cy="960120"/>
          </a:xfrm>
          <a:prstGeom prst="rect">
            <a:avLst/>
          </a:prstGeom>
          <a:solidFill>
            <a:srgbClr val="E0F1E5"/>
          </a:solidFill>
          <a:ln w="13970">
            <a:solidFill>
              <a:srgbClr val="D2D8DE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lIns="73152" rIns="73152" tIns="54864" bIns="54864"/>
          <a:lstStyle/>
          <a:p>
            <a:pPr algn="ctr"/>
            <a:r>
              <a:rPr sz="1300" b="0">
                <a:solidFill>
                  <a:srgbClr val="20252A"/>
                </a:solidFill>
                <a:latin typeface="Aptos"/>
              </a:rPr>
              <a:t/>
            </a:r>
          </a:p>
        </p:txBody>
      </p:sp>
      <p:sp>
        <p:nvSpPr>
          <p:cNvPr id="21" name="TextBox 20"/>
          <p:cNvSpPr txBox="1"/>
          <p:nvPr/>
        </p:nvSpPr>
        <p:spPr>
          <a:xfrm>
            <a:off x="7872984" y="4791455"/>
            <a:ext cx="2633472" cy="329184"/>
          </a:xfrm>
          <a:prstGeom prst="rect">
            <a:avLst/>
          </a:prstGeom>
          <a:noFill/>
        </p:spPr>
        <p:txBody>
          <a:bodyPr wrap="none" lIns="36576" rIns="36576" tIns="18288" bIns="18288" anchor="t">
            <a:spAutoFit/>
          </a:bodyPr>
          <a:lstStyle/>
          <a:p>
            <a:pPr algn="ctr"/>
            <a:r>
              <a:rPr sz="2300" b="1">
                <a:solidFill>
                  <a:srgbClr val="20252A"/>
                </a:solidFill>
                <a:latin typeface="Aptos"/>
              </a:rPr>
              <a:t>UCE + cross-attn</a:t>
            </a:r>
          </a:p>
        </p:txBody>
      </p:sp>
      <p:sp>
        <p:nvSpPr>
          <p:cNvPr id="22" name="TextBox 21"/>
          <p:cNvSpPr txBox="1"/>
          <p:nvPr/>
        </p:nvSpPr>
        <p:spPr>
          <a:xfrm>
            <a:off x="7891272" y="5193792"/>
            <a:ext cx="2596896" cy="365760"/>
          </a:xfrm>
          <a:prstGeom prst="rect">
            <a:avLst/>
          </a:prstGeom>
          <a:noFill/>
        </p:spPr>
        <p:txBody>
          <a:bodyPr wrap="none" lIns="36576" rIns="36576" tIns="18288" bIns="18288" anchor="t">
            <a:spAutoFit/>
          </a:bodyPr>
          <a:lstStyle/>
          <a:p>
            <a:pPr algn="ctr"/>
            <a:r>
              <a:rPr sz="1000" b="0">
                <a:solidFill>
                  <a:srgbClr val="5C6773"/>
                </a:solidFill>
                <a:latin typeface="Aptos"/>
              </a:rPr>
              <a:t>best mouse model</a:t>
            </a:r>
          </a:p>
        </p:txBody>
      </p:sp>
    </p:spTree>
  </p:cSld>
  <p:clrMapOvr>
    <a:masterClrMapping/>
  </p:clrMapOvr>
</p:sld>
</file>

<file path=ppt/slides/slide2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F8F9FA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2" name="TextBox 1"/>
          <p:cNvSpPr txBox="1"/>
          <p:nvPr/>
        </p:nvSpPr>
        <p:spPr>
          <a:xfrm>
            <a:off x="502920" y="237744"/>
            <a:ext cx="11155680" cy="438912"/>
          </a:xfrm>
          <a:prstGeom prst="rect">
            <a:avLst/>
          </a:prstGeom>
          <a:noFill/>
        </p:spPr>
        <p:txBody>
          <a:bodyPr wrap="none" lIns="36576" rIns="36576" tIns="18288" bIns="18288" anchor="t">
            <a:spAutoFit/>
          </a:bodyPr>
          <a:lstStyle/>
          <a:p>
            <a:pPr algn="l"/>
            <a:r>
              <a:rPr sz="2500" b="1">
                <a:solidFill>
                  <a:srgbClr val="20252A"/>
                </a:solidFill>
                <a:latin typeface="Aptos"/>
              </a:rPr>
              <a:t>Development is observed as snapshots, but the target is a continuous vector field</a:t>
            </a:r>
          </a:p>
        </p:txBody>
      </p:sp>
      <p:pic>
        <p:nvPicPr>
          <p:cNvPr id="3" name="Picture 2" descr="full_umap_by_major_trajectory.png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502920" y="1622366"/>
            <a:ext cx="5394960" cy="4125330"/>
          </a:xfrm>
          <a:prstGeom prst="rect">
            <a:avLst/>
          </a:prstGeom>
        </p:spPr>
      </p:pic>
      <p:graphicFrame>
        <p:nvGraphicFramePr>
          <p:cNvPr id="4" name="Table 3"/>
          <p:cNvGraphicFramePr>
            <a:graphicFrameLocks noGrp="1"/>
          </p:cNvGraphicFramePr>
          <p:nvPr/>
        </p:nvGraphicFramePr>
        <p:xfrm>
          <a:off x="6126480" y="1143000"/>
          <a:ext cx="5440680" cy="1508760"/>
        </p:xfrm>
        <a:graphic>
          <a:graphicData uri="http://schemas.openxmlformats.org/drawingml/2006/table">
            <a:tbl>
              <a:tblPr firstRow="1" bandRow="1">
                <a:tableStyleId>{5C22544A-7EE6-4342-B048-85BDC9FD1C3A}</a:tableStyleId>
              </a:tblPr>
              <a:tblGrid>
                <a:gridCol w="906780"/>
                <a:gridCol w="906780"/>
                <a:gridCol w="906780"/>
                <a:gridCol w="906780"/>
                <a:gridCol w="906780"/>
                <a:gridCol w="906780"/>
              </a:tblGrid>
              <a:tr h="502920">
                <a:tc>
                  <a:txBody>
                    <a:bodyPr/>
                    <a:lstStyle/>
                    <a:p>
                      <a:pPr algn="ctr"/>
                      <a:r>
                        <a:rPr sz="900" b="1">
                          <a:solidFill>
                            <a:srgbClr val="FFFFFF"/>
                          </a:solidFill>
                          <a:latin typeface="Aptos"/>
                        </a:rPr>
                        <a:t>Species</a:t>
                      </a:r>
                    </a:p>
                  </a:txBody>
                  <a:tcPr>
                    <a:solidFill>
                      <a:srgbClr val="3165A3"/>
                    </a:solidFill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sz="900" b="1">
                          <a:solidFill>
                            <a:srgbClr val="FFFFFF"/>
                          </a:solidFill>
                          <a:latin typeface="Aptos"/>
                        </a:rPr>
                        <a:t>Cells</a:t>
                      </a:r>
                    </a:p>
                  </a:txBody>
                  <a:tcPr>
                    <a:solidFill>
                      <a:srgbClr val="3165A3"/>
                    </a:solidFill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sz="900" b="1">
                          <a:solidFill>
                            <a:srgbClr val="FFFFFF"/>
                          </a:solidFill>
                          <a:latin typeface="Aptos"/>
                        </a:rPr>
                        <a:t>Timepoints</a:t>
                      </a:r>
                    </a:p>
                  </a:txBody>
                  <a:tcPr>
                    <a:solidFill>
                      <a:srgbClr val="3165A3"/>
                    </a:solidFill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sz="900" b="1">
                          <a:solidFill>
                            <a:srgbClr val="FFFFFF"/>
                          </a:solidFill>
                          <a:latin typeface="Aptos"/>
                        </a:rPr>
                        <a:t>Held out</a:t>
                      </a:r>
                    </a:p>
                  </a:txBody>
                  <a:tcPr>
                    <a:solidFill>
                      <a:srgbClr val="3165A3"/>
                    </a:solidFill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sz="900" b="1">
                          <a:solidFill>
                            <a:srgbClr val="FFFFFF"/>
                          </a:solidFill>
                          <a:latin typeface="Aptos"/>
                        </a:rPr>
                        <a:t>Genes</a:t>
                      </a:r>
                    </a:p>
                  </a:txBody>
                  <a:tcPr>
                    <a:solidFill>
                      <a:srgbClr val="3165A3"/>
                    </a:solidFill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sz="900" b="1">
                          <a:solidFill>
                            <a:srgbClr val="FFFFFF"/>
                          </a:solidFill>
                          <a:latin typeface="Aptos"/>
                        </a:rPr>
                        <a:t>CRE tokens</a:t>
                      </a:r>
                    </a:p>
                  </a:txBody>
                  <a:tcPr>
                    <a:solidFill>
                      <a:srgbClr val="3165A3"/>
                    </a:solidFill>
                  </a:tcPr>
                </a:tc>
              </a:tr>
              <a:tr h="502920">
                <a:tc>
                  <a:txBody>
                    <a:bodyPr/>
                    <a:lstStyle/>
                    <a:p>
                      <a:pPr algn="ctr"/>
                      <a:r>
                        <a:rPr sz="900">
                          <a:solidFill>
                            <a:srgbClr val="20252A"/>
                          </a:solidFill>
                          <a:latin typeface="Aptos"/>
                        </a:rPr>
                        <a:t>Mouse</a:t>
                      </a:r>
                    </a:p>
                  </a:txBody>
                  <a:tcPr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sz="900">
                          <a:solidFill>
                            <a:srgbClr val="20252A"/>
                          </a:solidFill>
                          <a:latin typeface="Aptos"/>
                        </a:rPr>
                        <a:t>11.44M</a:t>
                      </a:r>
                    </a:p>
                  </a:txBody>
                  <a:tcPr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sz="900">
                          <a:solidFill>
                            <a:srgbClr val="20252A"/>
                          </a:solidFill>
                          <a:latin typeface="Aptos"/>
                        </a:rPr>
                        <a:t>43</a:t>
                      </a:r>
                    </a:p>
                  </a:txBody>
                  <a:tcPr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sz="900">
                          <a:solidFill>
                            <a:srgbClr val="20252A"/>
                          </a:solidFill>
                          <a:latin typeface="Aptos"/>
                        </a:rPr>
                        <a:t>E9.5, E10.5</a:t>
                      </a:r>
                    </a:p>
                  </a:txBody>
                  <a:tcPr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sz="900">
                          <a:solidFill>
                            <a:srgbClr val="20252A"/>
                          </a:solidFill>
                          <a:latin typeface="Aptos"/>
                        </a:rPr>
                        <a:t>5k / 10k</a:t>
                      </a:r>
                    </a:p>
                  </a:txBody>
                  <a:tcPr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sz="900">
                          <a:solidFill>
                            <a:srgbClr val="20252A"/>
                          </a:solidFill>
                          <a:latin typeface="Aptos"/>
                        </a:rPr>
                        <a:t>318k</a:t>
                      </a:r>
                    </a:p>
                  </a:txBody>
                  <a:tcPr>
                    <a:solidFill>
                      <a:srgbClr val="FFFFFF"/>
                    </a:solidFill>
                  </a:tcPr>
                </a:tc>
              </a:tr>
              <a:tr h="502920">
                <a:tc>
                  <a:txBody>
                    <a:bodyPr/>
                    <a:lstStyle/>
                    <a:p>
                      <a:pPr algn="ctr"/>
                      <a:r>
                        <a:rPr sz="900">
                          <a:solidFill>
                            <a:srgbClr val="20252A"/>
                          </a:solidFill>
                          <a:latin typeface="Aptos"/>
                        </a:rPr>
                        <a:t>Zebrafish</a:t>
                      </a:r>
                    </a:p>
                  </a:txBody>
                  <a:tcPr>
                    <a:solidFill>
                      <a:srgbClr val="F1F4F7"/>
                    </a:solidFill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sz="900">
                          <a:solidFill>
                            <a:srgbClr val="20252A"/>
                          </a:solidFill>
                          <a:latin typeface="Aptos"/>
                        </a:rPr>
                        <a:t>1.23M</a:t>
                      </a:r>
                    </a:p>
                  </a:txBody>
                  <a:tcPr>
                    <a:solidFill>
                      <a:srgbClr val="F1F4F7"/>
                    </a:solidFill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sz="900">
                          <a:solidFill>
                            <a:srgbClr val="20252A"/>
                          </a:solidFill>
                          <a:latin typeface="Aptos"/>
                        </a:rPr>
                        <a:t>18</a:t>
                      </a:r>
                    </a:p>
                  </a:txBody>
                  <a:tcPr>
                    <a:solidFill>
                      <a:srgbClr val="F1F4F7"/>
                    </a:solidFill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sz="900">
                          <a:solidFill>
                            <a:srgbClr val="20252A"/>
                          </a:solidFill>
                          <a:latin typeface="Aptos"/>
                        </a:rPr>
                        <a:t>36, 72 hpf</a:t>
                      </a:r>
                    </a:p>
                  </a:txBody>
                  <a:tcPr>
                    <a:solidFill>
                      <a:srgbClr val="F1F4F7"/>
                    </a:solidFill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sz="900">
                          <a:solidFill>
                            <a:srgbClr val="20252A"/>
                          </a:solidFill>
                          <a:latin typeface="Aptos"/>
                        </a:rPr>
                        <a:t>10k</a:t>
                      </a:r>
                    </a:p>
                  </a:txBody>
                  <a:tcPr>
                    <a:solidFill>
                      <a:srgbClr val="F1F4F7"/>
                    </a:solidFill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sz="900">
                          <a:solidFill>
                            <a:srgbClr val="20252A"/>
                          </a:solidFill>
                          <a:latin typeface="Aptos"/>
                        </a:rPr>
                        <a:t>318k</a:t>
                      </a:r>
                    </a:p>
                  </a:txBody>
                  <a:tcPr>
                    <a:solidFill>
                      <a:srgbClr val="F1F4F7"/>
                    </a:solidFill>
                  </a:tcPr>
                </a:tc>
              </a:tr>
            </a:tbl>
          </a:graphicData>
        </a:graphic>
      </p:graphicFrame>
      <p:sp>
        <p:nvSpPr>
          <p:cNvPr id="5" name="Rounded Rectangle 4"/>
          <p:cNvSpPr/>
          <p:nvPr/>
        </p:nvSpPr>
        <p:spPr>
          <a:xfrm>
            <a:off x="6400800" y="3154680"/>
            <a:ext cx="4617720" cy="658368"/>
          </a:xfrm>
          <a:prstGeom prst="roundRect">
            <a:avLst/>
          </a:prstGeom>
          <a:solidFill>
            <a:srgbClr val="F9E0DC"/>
          </a:solidFill>
          <a:ln w="13970">
            <a:solidFill>
              <a:srgbClr val="BE4B49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lIns="73152" rIns="73152" tIns="54864" bIns="54864"/>
          <a:lstStyle/>
          <a:p>
            <a:pPr algn="ctr"/>
            <a:r>
              <a:rPr sz="1300" b="1">
                <a:solidFill>
                  <a:srgbClr val="20252A"/>
                </a:solidFill>
                <a:latin typeface="Aptos"/>
              </a:rPr>
              <a:t>Causal rollout predicts held-out stages from observed source cells</a:t>
            </a:r>
          </a:p>
        </p:txBody>
      </p:sp>
      <p:sp>
        <p:nvSpPr>
          <p:cNvPr id="6" name="Rounded Rectangle 5"/>
          <p:cNvSpPr/>
          <p:nvPr/>
        </p:nvSpPr>
        <p:spPr>
          <a:xfrm>
            <a:off x="6400800" y="4069080"/>
            <a:ext cx="4617720" cy="749808"/>
          </a:xfrm>
          <a:prstGeom prst="roundRect">
            <a:avLst/>
          </a:prstGeom>
          <a:solidFill>
            <a:srgbClr val="FFFFFF"/>
          </a:solidFill>
          <a:ln w="13970">
            <a:solidFill>
              <a:srgbClr val="D2D8DE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lIns="73152" rIns="73152" tIns="54864" bIns="54864"/>
          <a:lstStyle/>
          <a:p>
            <a:pPr algn="ctr"/>
            <a:r>
              <a:rPr sz="1200" b="0">
                <a:solidFill>
                  <a:srgbClr val="20252A"/>
                </a:solidFill>
                <a:latin typeface="Aptos"/>
              </a:rPr>
              <a:t>The same output space is used for CFM and STREAM, so sequence conditioning is the isolated change</a:t>
            </a:r>
          </a:p>
        </p:txBody>
      </p:sp>
      <p:sp>
        <p:nvSpPr>
          <p:cNvPr id="7" name="Rounded Rectangle 6"/>
          <p:cNvSpPr/>
          <p:nvPr/>
        </p:nvSpPr>
        <p:spPr>
          <a:xfrm>
            <a:off x="6400800" y="5074920"/>
            <a:ext cx="4617720" cy="868680"/>
          </a:xfrm>
          <a:prstGeom prst="roundRect">
            <a:avLst/>
          </a:prstGeom>
          <a:solidFill>
            <a:srgbClr val="FFFFFF"/>
          </a:solidFill>
          <a:ln w="13970">
            <a:solidFill>
              <a:srgbClr val="D2D8DE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lIns="73152" rIns="73152" tIns="54864" bIns="54864"/>
          <a:lstStyle/>
          <a:p>
            <a:pPr algn="ctr"/>
            <a:r>
              <a:rPr sz="1200" b="0">
                <a:solidFill>
                  <a:srgbClr val="20252A"/>
                </a:solidFill>
                <a:latin typeface="Aptos"/>
              </a:rPr>
              <a:t>Cross-species tests swap regulatory sequence and UCE gene tokens while retaining expression-valued targets</a:t>
            </a:r>
          </a:p>
        </p:txBody>
      </p:sp>
    </p:spTree>
  </p:cSld>
  <p:clrMapOvr>
    <a:masterClrMapping/>
  </p:clrMapOvr>
</p:sld>
</file>

<file path=ppt/slides/slide3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F8F9FA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2" name="TextBox 1"/>
          <p:cNvSpPr txBox="1"/>
          <p:nvPr/>
        </p:nvSpPr>
        <p:spPr>
          <a:xfrm>
            <a:off x="502920" y="237744"/>
            <a:ext cx="11155680" cy="438912"/>
          </a:xfrm>
          <a:prstGeom prst="rect">
            <a:avLst/>
          </a:prstGeom>
          <a:noFill/>
        </p:spPr>
        <p:txBody>
          <a:bodyPr wrap="none" lIns="36576" rIns="36576" tIns="18288" bIns="18288" anchor="t">
            <a:spAutoFit/>
          </a:bodyPr>
          <a:lstStyle/>
          <a:p>
            <a:pPr algn="l"/>
            <a:r>
              <a:rPr sz="2500" b="1">
                <a:solidFill>
                  <a:srgbClr val="20252A"/>
                </a:solidFill>
                <a:latin typeface="Aptos"/>
              </a:rPr>
              <a:t>Multi-timepoint CFM fits paths; causal evaluation rolls only into held-out stages</a:t>
            </a:r>
          </a:p>
        </p:txBody>
      </p:sp>
      <p:sp>
        <p:nvSpPr>
          <p:cNvPr id="3" name="Rectangle 2"/>
          <p:cNvSpPr/>
          <p:nvPr/>
        </p:nvSpPr>
        <p:spPr>
          <a:xfrm>
            <a:off x="822960" y="2148840"/>
            <a:ext cx="749808" cy="438912"/>
          </a:xfrm>
          <a:prstGeom prst="rect">
            <a:avLst/>
          </a:prstGeom>
          <a:solidFill>
            <a:srgbClr val="FFFFFF"/>
          </a:solidFill>
          <a:ln w="13970">
            <a:solidFill>
              <a:srgbClr val="3165A3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lIns="73152" rIns="73152" tIns="54864" bIns="54864"/>
          <a:lstStyle/>
          <a:p>
            <a:pPr algn="ctr"/>
            <a:r>
              <a:rPr sz="1000" b="0">
                <a:solidFill>
                  <a:srgbClr val="20252A"/>
                </a:solidFill>
                <a:latin typeface="Aptos"/>
              </a:rPr>
              <a:t>E8.5</a:t>
            </a:r>
          </a:p>
        </p:txBody>
      </p:sp>
      <p:sp>
        <p:nvSpPr>
          <p:cNvPr id="4" name="Rectangle 3"/>
          <p:cNvSpPr/>
          <p:nvPr/>
        </p:nvSpPr>
        <p:spPr>
          <a:xfrm>
            <a:off x="1874519" y="2148840"/>
            <a:ext cx="749808" cy="438912"/>
          </a:xfrm>
          <a:prstGeom prst="rect">
            <a:avLst/>
          </a:prstGeom>
          <a:solidFill>
            <a:srgbClr val="FFFFFF"/>
          </a:solidFill>
          <a:ln w="13970">
            <a:solidFill>
              <a:srgbClr val="3165A3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lIns="73152" rIns="73152" tIns="54864" bIns="54864"/>
          <a:lstStyle/>
          <a:p>
            <a:pPr algn="ctr"/>
            <a:r>
              <a:rPr sz="1000" b="0">
                <a:solidFill>
                  <a:srgbClr val="20252A"/>
                </a:solidFill>
                <a:latin typeface="Aptos"/>
              </a:rPr>
              <a:t>E8.75</a:t>
            </a:r>
          </a:p>
        </p:txBody>
      </p:sp>
      <p:sp>
        <p:nvSpPr>
          <p:cNvPr id="5" name="Rectangle 4"/>
          <p:cNvSpPr/>
          <p:nvPr/>
        </p:nvSpPr>
        <p:spPr>
          <a:xfrm>
            <a:off x="2926080" y="2148840"/>
            <a:ext cx="749808" cy="438912"/>
          </a:xfrm>
          <a:prstGeom prst="rect">
            <a:avLst/>
          </a:prstGeom>
          <a:solidFill>
            <a:srgbClr val="FFFFFF"/>
          </a:solidFill>
          <a:ln w="13970">
            <a:solidFill>
              <a:srgbClr val="3165A3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lIns="73152" rIns="73152" tIns="54864" bIns="54864"/>
          <a:lstStyle/>
          <a:p>
            <a:pPr algn="ctr"/>
            <a:r>
              <a:rPr sz="1000" b="0">
                <a:solidFill>
                  <a:srgbClr val="20252A"/>
                </a:solidFill>
                <a:latin typeface="Aptos"/>
              </a:rPr>
              <a:t>E9.0</a:t>
            </a:r>
          </a:p>
        </p:txBody>
      </p:sp>
      <p:sp>
        <p:nvSpPr>
          <p:cNvPr id="6" name="Rectangle 5"/>
          <p:cNvSpPr/>
          <p:nvPr/>
        </p:nvSpPr>
        <p:spPr>
          <a:xfrm>
            <a:off x="3977639" y="2148840"/>
            <a:ext cx="749808" cy="438912"/>
          </a:xfrm>
          <a:prstGeom prst="rect">
            <a:avLst/>
          </a:prstGeom>
          <a:solidFill>
            <a:srgbClr val="FFFFFF"/>
          </a:solidFill>
          <a:ln w="13970">
            <a:solidFill>
              <a:srgbClr val="3165A3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lIns="73152" rIns="73152" tIns="54864" bIns="54864"/>
          <a:lstStyle/>
          <a:p>
            <a:pPr algn="ctr"/>
            <a:r>
              <a:rPr sz="1000" b="0">
                <a:solidFill>
                  <a:srgbClr val="20252A"/>
                </a:solidFill>
                <a:latin typeface="Aptos"/>
              </a:rPr>
              <a:t>E9.25</a:t>
            </a:r>
          </a:p>
        </p:txBody>
      </p:sp>
      <p:sp>
        <p:nvSpPr>
          <p:cNvPr id="7" name="Rectangle 6"/>
          <p:cNvSpPr/>
          <p:nvPr/>
        </p:nvSpPr>
        <p:spPr>
          <a:xfrm>
            <a:off x="5029200" y="2148840"/>
            <a:ext cx="749808" cy="438912"/>
          </a:xfrm>
          <a:prstGeom prst="rect">
            <a:avLst/>
          </a:prstGeom>
          <a:solidFill>
            <a:srgbClr val="F9E0DC"/>
          </a:solidFill>
          <a:ln w="13970">
            <a:solidFill>
              <a:srgbClr val="BE4B49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lIns="73152" rIns="73152" tIns="54864" bIns="54864"/>
          <a:lstStyle/>
          <a:p>
            <a:pPr algn="ctr"/>
            <a:r>
              <a:rPr sz="1000" b="1">
                <a:solidFill>
                  <a:srgbClr val="20252A"/>
                </a:solidFill>
                <a:latin typeface="Aptos"/>
              </a:rPr>
              <a:t>E9.5</a:t>
            </a:r>
          </a:p>
        </p:txBody>
      </p:sp>
      <p:sp>
        <p:nvSpPr>
          <p:cNvPr id="8" name="Rectangle 7"/>
          <p:cNvSpPr/>
          <p:nvPr/>
        </p:nvSpPr>
        <p:spPr>
          <a:xfrm>
            <a:off x="6080760" y="2148840"/>
            <a:ext cx="749808" cy="438912"/>
          </a:xfrm>
          <a:prstGeom prst="rect">
            <a:avLst/>
          </a:prstGeom>
          <a:solidFill>
            <a:srgbClr val="FFFFFF"/>
          </a:solidFill>
          <a:ln w="13970">
            <a:solidFill>
              <a:srgbClr val="3165A3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lIns="73152" rIns="73152" tIns="54864" bIns="54864"/>
          <a:lstStyle/>
          <a:p>
            <a:pPr algn="ctr"/>
            <a:r>
              <a:rPr sz="1000" b="0">
                <a:solidFill>
                  <a:srgbClr val="20252A"/>
                </a:solidFill>
                <a:latin typeface="Aptos"/>
              </a:rPr>
              <a:t>E9.75</a:t>
            </a:r>
          </a:p>
        </p:txBody>
      </p:sp>
      <p:sp>
        <p:nvSpPr>
          <p:cNvPr id="9" name="Rectangle 8"/>
          <p:cNvSpPr/>
          <p:nvPr/>
        </p:nvSpPr>
        <p:spPr>
          <a:xfrm>
            <a:off x="7132320" y="2148840"/>
            <a:ext cx="749808" cy="438912"/>
          </a:xfrm>
          <a:prstGeom prst="rect">
            <a:avLst/>
          </a:prstGeom>
          <a:solidFill>
            <a:srgbClr val="FFFFFF"/>
          </a:solidFill>
          <a:ln w="13970">
            <a:solidFill>
              <a:srgbClr val="3165A3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lIns="73152" rIns="73152" tIns="54864" bIns="54864"/>
          <a:lstStyle/>
          <a:p>
            <a:pPr algn="ctr"/>
            <a:r>
              <a:rPr sz="1000" b="0">
                <a:solidFill>
                  <a:srgbClr val="20252A"/>
                </a:solidFill>
                <a:latin typeface="Aptos"/>
              </a:rPr>
              <a:t>E10.0</a:t>
            </a:r>
          </a:p>
        </p:txBody>
      </p:sp>
      <p:sp>
        <p:nvSpPr>
          <p:cNvPr id="10" name="Rectangle 9"/>
          <p:cNvSpPr/>
          <p:nvPr/>
        </p:nvSpPr>
        <p:spPr>
          <a:xfrm>
            <a:off x="8183879" y="2148840"/>
            <a:ext cx="749808" cy="438912"/>
          </a:xfrm>
          <a:prstGeom prst="rect">
            <a:avLst/>
          </a:prstGeom>
          <a:solidFill>
            <a:srgbClr val="FFFFFF"/>
          </a:solidFill>
          <a:ln w="13970">
            <a:solidFill>
              <a:srgbClr val="3165A3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lIns="73152" rIns="73152" tIns="54864" bIns="54864"/>
          <a:lstStyle/>
          <a:p>
            <a:pPr algn="ctr"/>
            <a:r>
              <a:rPr sz="1000" b="0">
                <a:solidFill>
                  <a:srgbClr val="20252A"/>
                </a:solidFill>
                <a:latin typeface="Aptos"/>
              </a:rPr>
              <a:t>E10.25</a:t>
            </a:r>
          </a:p>
        </p:txBody>
      </p:sp>
      <p:sp>
        <p:nvSpPr>
          <p:cNvPr id="11" name="Rectangle 10"/>
          <p:cNvSpPr/>
          <p:nvPr/>
        </p:nvSpPr>
        <p:spPr>
          <a:xfrm>
            <a:off x="9235440" y="2148840"/>
            <a:ext cx="749808" cy="438912"/>
          </a:xfrm>
          <a:prstGeom prst="rect">
            <a:avLst/>
          </a:prstGeom>
          <a:solidFill>
            <a:srgbClr val="F9E0DC"/>
          </a:solidFill>
          <a:ln w="13970">
            <a:solidFill>
              <a:srgbClr val="BE4B49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lIns="73152" rIns="73152" tIns="54864" bIns="54864"/>
          <a:lstStyle/>
          <a:p>
            <a:pPr algn="ctr"/>
            <a:r>
              <a:rPr sz="1000" b="1">
                <a:solidFill>
                  <a:srgbClr val="20252A"/>
                </a:solidFill>
                <a:latin typeface="Aptos"/>
              </a:rPr>
              <a:t>E10.5</a:t>
            </a:r>
          </a:p>
        </p:txBody>
      </p:sp>
      <p:sp>
        <p:nvSpPr>
          <p:cNvPr id="12" name="Rectangle 11"/>
          <p:cNvSpPr/>
          <p:nvPr/>
        </p:nvSpPr>
        <p:spPr>
          <a:xfrm>
            <a:off x="10287000" y="2148840"/>
            <a:ext cx="749808" cy="438912"/>
          </a:xfrm>
          <a:prstGeom prst="rect">
            <a:avLst/>
          </a:prstGeom>
          <a:solidFill>
            <a:srgbClr val="FFFFFF"/>
          </a:solidFill>
          <a:ln w="13970">
            <a:solidFill>
              <a:srgbClr val="3165A3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lIns="73152" rIns="73152" tIns="54864" bIns="54864"/>
          <a:lstStyle/>
          <a:p>
            <a:pPr algn="ctr"/>
            <a:r>
              <a:rPr sz="1000" b="0">
                <a:solidFill>
                  <a:srgbClr val="20252A"/>
                </a:solidFill>
                <a:latin typeface="Aptos"/>
              </a:rPr>
              <a:t>E10.75</a:t>
            </a:r>
          </a:p>
        </p:txBody>
      </p:sp>
      <p:cxnSp>
        <p:nvCxnSpPr>
          <p:cNvPr id="13" name="Connector 12"/>
          <p:cNvCxnSpPr/>
          <p:nvPr/>
        </p:nvCxnSpPr>
        <p:spPr>
          <a:xfrm>
            <a:off x="1572768" y="2368296"/>
            <a:ext cx="301751" cy="0"/>
          </a:xfrm>
          <a:prstGeom prst="line">
            <a:avLst/>
          </a:prstGeom>
          <a:ln w="27940">
            <a:solidFill>
              <a:srgbClr val="539A5D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14" name="Connector 13"/>
          <p:cNvCxnSpPr/>
          <p:nvPr/>
        </p:nvCxnSpPr>
        <p:spPr>
          <a:xfrm>
            <a:off x="2624327" y="2368296"/>
            <a:ext cx="301753" cy="0"/>
          </a:xfrm>
          <a:prstGeom prst="line">
            <a:avLst/>
          </a:prstGeom>
          <a:ln w="27940">
            <a:solidFill>
              <a:srgbClr val="539A5D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15" name="Connector 14"/>
          <p:cNvCxnSpPr/>
          <p:nvPr/>
        </p:nvCxnSpPr>
        <p:spPr>
          <a:xfrm>
            <a:off x="3675888" y="2368296"/>
            <a:ext cx="301751" cy="0"/>
          </a:xfrm>
          <a:prstGeom prst="line">
            <a:avLst/>
          </a:prstGeom>
          <a:ln w="27940">
            <a:solidFill>
              <a:srgbClr val="539A5D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16" name="Connector 15"/>
          <p:cNvCxnSpPr/>
          <p:nvPr/>
        </p:nvCxnSpPr>
        <p:spPr>
          <a:xfrm>
            <a:off x="4727448" y="2368296"/>
            <a:ext cx="301752" cy="0"/>
          </a:xfrm>
          <a:prstGeom prst="line">
            <a:avLst/>
          </a:prstGeom>
          <a:ln w="27940">
            <a:solidFill>
              <a:srgbClr val="BE4B49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17" name="Connector 16"/>
          <p:cNvCxnSpPr/>
          <p:nvPr/>
        </p:nvCxnSpPr>
        <p:spPr>
          <a:xfrm>
            <a:off x="5779008" y="2368296"/>
            <a:ext cx="301752" cy="0"/>
          </a:xfrm>
          <a:prstGeom prst="line">
            <a:avLst/>
          </a:prstGeom>
          <a:ln w="27940">
            <a:solidFill>
              <a:srgbClr val="BE4B49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18" name="Connector 17"/>
          <p:cNvCxnSpPr/>
          <p:nvPr/>
        </p:nvCxnSpPr>
        <p:spPr>
          <a:xfrm>
            <a:off x="6830568" y="2368296"/>
            <a:ext cx="301752" cy="0"/>
          </a:xfrm>
          <a:prstGeom prst="line">
            <a:avLst/>
          </a:prstGeom>
          <a:ln w="27940">
            <a:solidFill>
              <a:srgbClr val="539A5D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19" name="Connector 18"/>
          <p:cNvCxnSpPr/>
          <p:nvPr/>
        </p:nvCxnSpPr>
        <p:spPr>
          <a:xfrm>
            <a:off x="7882127" y="2368296"/>
            <a:ext cx="301752" cy="0"/>
          </a:xfrm>
          <a:prstGeom prst="line">
            <a:avLst/>
          </a:prstGeom>
          <a:ln w="27940">
            <a:solidFill>
              <a:srgbClr val="539A5D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20" name="Connector 19"/>
          <p:cNvCxnSpPr/>
          <p:nvPr/>
        </p:nvCxnSpPr>
        <p:spPr>
          <a:xfrm>
            <a:off x="8933688" y="2368296"/>
            <a:ext cx="301752" cy="0"/>
          </a:xfrm>
          <a:prstGeom prst="line">
            <a:avLst/>
          </a:prstGeom>
          <a:ln w="27940">
            <a:solidFill>
              <a:srgbClr val="BE4B49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21" name="Connector 20"/>
          <p:cNvCxnSpPr/>
          <p:nvPr/>
        </p:nvCxnSpPr>
        <p:spPr>
          <a:xfrm>
            <a:off x="9985248" y="2368296"/>
            <a:ext cx="301752" cy="0"/>
          </a:xfrm>
          <a:prstGeom prst="line">
            <a:avLst/>
          </a:prstGeom>
          <a:ln w="27940">
            <a:solidFill>
              <a:srgbClr val="BE4B49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sp>
        <p:nvSpPr>
          <p:cNvPr id="22" name="TextBox 21"/>
          <p:cNvSpPr txBox="1"/>
          <p:nvPr/>
        </p:nvSpPr>
        <p:spPr>
          <a:xfrm>
            <a:off x="1508760" y="2788920"/>
            <a:ext cx="9052560" cy="228600"/>
          </a:xfrm>
          <a:prstGeom prst="rect">
            <a:avLst/>
          </a:prstGeom>
          <a:noFill/>
        </p:spPr>
        <p:txBody>
          <a:bodyPr wrap="none" lIns="36576" rIns="36576" tIns="18288" bIns="18288" anchor="t">
            <a:spAutoFit/>
          </a:bodyPr>
          <a:lstStyle/>
          <a:p>
            <a:pPr algn="ctr"/>
            <a:r>
              <a:rPr sz="1200" b="0">
                <a:solidFill>
                  <a:srgbClr val="5C6773"/>
                </a:solidFill>
                <a:latin typeface="Aptos"/>
              </a:rPr>
              <a:t>green = training intervals     red = excluded intervals; causal scoring uses observed-to-held-out direction</a:t>
            </a:r>
          </a:p>
        </p:txBody>
      </p:sp>
      <p:sp>
        <p:nvSpPr>
          <p:cNvPr id="23" name="Rounded Rectangle 22"/>
          <p:cNvSpPr/>
          <p:nvPr/>
        </p:nvSpPr>
        <p:spPr>
          <a:xfrm>
            <a:off x="822960" y="3886200"/>
            <a:ext cx="2011680" cy="640080"/>
          </a:xfrm>
          <a:prstGeom prst="roundRect">
            <a:avLst/>
          </a:prstGeom>
          <a:solidFill>
            <a:srgbClr val="E1EBF7"/>
          </a:solidFill>
          <a:ln w="13970">
            <a:solidFill>
              <a:srgbClr val="3165A3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lIns="73152" rIns="73152" tIns="54864" bIns="54864"/>
          <a:lstStyle/>
          <a:p>
            <a:pPr algn="ctr"/>
            <a:r>
              <a:rPr sz="1300" b="1">
                <a:solidFill>
                  <a:srgbClr val="20252A"/>
                </a:solidFill>
                <a:latin typeface="Aptos"/>
              </a:rPr>
              <a:t>1. sample cells at t_k</a:t>
            </a:r>
          </a:p>
        </p:txBody>
      </p:sp>
      <p:sp>
        <p:nvSpPr>
          <p:cNvPr id="24" name="Rounded Rectangle 23"/>
          <p:cNvSpPr/>
          <p:nvPr/>
        </p:nvSpPr>
        <p:spPr>
          <a:xfrm>
            <a:off x="3154680" y="3886200"/>
            <a:ext cx="2103120" cy="640080"/>
          </a:xfrm>
          <a:prstGeom prst="roundRect">
            <a:avLst/>
          </a:prstGeom>
          <a:solidFill>
            <a:srgbClr val="F9EECF"/>
          </a:solidFill>
          <a:ln w="13970">
            <a:solidFill>
              <a:srgbClr val="D69E2E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lIns="73152" rIns="73152" tIns="54864" bIns="54864"/>
          <a:lstStyle/>
          <a:p>
            <a:pPr algn="ctr"/>
            <a:r>
              <a:rPr sz="1300" b="1">
                <a:solidFill>
                  <a:srgbClr val="20252A"/>
                </a:solidFill>
                <a:latin typeface="Aptos"/>
              </a:rPr>
              <a:t>2. minibatch OT pairs cells</a:t>
            </a:r>
          </a:p>
        </p:txBody>
      </p:sp>
      <p:sp>
        <p:nvSpPr>
          <p:cNvPr id="25" name="Rounded Rectangle 24"/>
          <p:cNvSpPr/>
          <p:nvPr/>
        </p:nvSpPr>
        <p:spPr>
          <a:xfrm>
            <a:off x="5577840" y="3886200"/>
            <a:ext cx="2240280" cy="640080"/>
          </a:xfrm>
          <a:prstGeom prst="roundRect">
            <a:avLst/>
          </a:prstGeom>
          <a:solidFill>
            <a:srgbClr val="E0F1E5"/>
          </a:solidFill>
          <a:ln w="13970">
            <a:solidFill>
              <a:srgbClr val="539A5D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lIns="73152" rIns="73152" tIns="54864" bIns="54864"/>
          <a:lstStyle/>
          <a:p>
            <a:pPr algn="ctr"/>
            <a:r>
              <a:rPr sz="1300" b="1">
                <a:solidFill>
                  <a:srgbClr val="20252A"/>
                </a:solidFill>
                <a:latin typeface="Aptos"/>
              </a:rPr>
              <a:t>3. interpolate x_t at random tau</a:t>
            </a:r>
          </a:p>
        </p:txBody>
      </p:sp>
      <p:sp>
        <p:nvSpPr>
          <p:cNvPr id="26" name="Rounded Rectangle 25"/>
          <p:cNvSpPr/>
          <p:nvPr/>
        </p:nvSpPr>
        <p:spPr>
          <a:xfrm>
            <a:off x="8138160" y="3886200"/>
            <a:ext cx="2743200" cy="640080"/>
          </a:xfrm>
          <a:prstGeom prst="roundRect">
            <a:avLst/>
          </a:prstGeom>
          <a:solidFill>
            <a:srgbClr val="FFFFFF"/>
          </a:solidFill>
          <a:ln w="13970">
            <a:solidFill>
              <a:srgbClr val="705DB4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lIns="73152" rIns="73152" tIns="54864" bIns="54864"/>
          <a:lstStyle/>
          <a:p>
            <a:pPr algn="ctr"/>
            <a:r>
              <a:rPr sz="1300" b="1">
                <a:solidFill>
                  <a:srgbClr val="20252A"/>
                </a:solidFill>
                <a:latin typeface="Aptos"/>
              </a:rPr>
              <a:t>4. regress velocity (x_1 - x_0) / dt</a:t>
            </a:r>
          </a:p>
        </p:txBody>
      </p:sp>
      <p:cxnSp>
        <p:nvCxnSpPr>
          <p:cNvPr id="27" name="Connector 26"/>
          <p:cNvCxnSpPr/>
          <p:nvPr/>
        </p:nvCxnSpPr>
        <p:spPr>
          <a:xfrm>
            <a:off x="2834640" y="4206240"/>
            <a:ext cx="320040" cy="0"/>
          </a:xfrm>
          <a:prstGeom prst="line">
            <a:avLst/>
          </a:prstGeom>
          <a:ln w="25400">
            <a:solidFill>
              <a:srgbClr val="5C6773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28" name="Connector 27"/>
          <p:cNvCxnSpPr/>
          <p:nvPr/>
        </p:nvCxnSpPr>
        <p:spPr>
          <a:xfrm>
            <a:off x="5257800" y="4206240"/>
            <a:ext cx="320040" cy="0"/>
          </a:xfrm>
          <a:prstGeom prst="line">
            <a:avLst/>
          </a:prstGeom>
          <a:ln w="25400">
            <a:solidFill>
              <a:srgbClr val="5C6773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29" name="Connector 28"/>
          <p:cNvCxnSpPr/>
          <p:nvPr/>
        </p:nvCxnSpPr>
        <p:spPr>
          <a:xfrm>
            <a:off x="7818120" y="4206240"/>
            <a:ext cx="320040" cy="0"/>
          </a:xfrm>
          <a:prstGeom prst="line">
            <a:avLst/>
          </a:prstGeom>
          <a:ln w="25400">
            <a:solidFill>
              <a:srgbClr val="5C6773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sp>
        <p:nvSpPr>
          <p:cNvPr id="30" name="TextBox 29"/>
          <p:cNvSpPr txBox="1"/>
          <p:nvPr/>
        </p:nvSpPr>
        <p:spPr>
          <a:xfrm>
            <a:off x="960120" y="5257800"/>
            <a:ext cx="10058400" cy="411480"/>
          </a:xfrm>
          <a:prstGeom prst="rect">
            <a:avLst/>
          </a:prstGeom>
          <a:noFill/>
        </p:spPr>
        <p:txBody>
          <a:bodyPr wrap="none" lIns="36576" rIns="36576" tIns="18288" bIns="18288" anchor="t">
            <a:spAutoFit/>
          </a:bodyPr>
          <a:lstStyle/>
          <a:p>
            <a:pPr algn="ctr"/>
            <a:r>
              <a:rPr sz="1600" b="1">
                <a:solidFill>
                  <a:srgbClr val="20252A"/>
                </a:solidFill>
                <a:latin typeface="Aptos"/>
              </a:rPr>
              <a:t>One vector field is fit across all training intervals; no ODE rollout is needed during fitting.</a:t>
            </a:r>
          </a:p>
        </p:txBody>
      </p:sp>
    </p:spTree>
  </p:cSld>
  <p:clrMapOvr>
    <a:masterClrMapping/>
  </p:clrMapOvr>
</p:sld>
</file>

<file path=ppt/slides/slide4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F8F9FA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2" name="TextBox 1"/>
          <p:cNvSpPr txBox="1"/>
          <p:nvPr/>
        </p:nvSpPr>
        <p:spPr>
          <a:xfrm>
            <a:off x="502920" y="237744"/>
            <a:ext cx="11155680" cy="438912"/>
          </a:xfrm>
          <a:prstGeom prst="rect">
            <a:avLst/>
          </a:prstGeom>
          <a:noFill/>
        </p:spPr>
        <p:txBody>
          <a:bodyPr wrap="none" lIns="36576" rIns="36576" tIns="18288" bIns="18288" anchor="t">
            <a:spAutoFit/>
          </a:bodyPr>
          <a:lstStyle/>
          <a:p>
            <a:pPr algn="l"/>
            <a:r>
              <a:rPr sz="2500" b="1">
                <a:solidFill>
                  <a:srgbClr val="20252A"/>
                </a:solidFill>
                <a:latin typeface="Aptos"/>
              </a:rPr>
              <a:t>STREAM predicts each gene velocity from global cell state and local regulatory tokens</a:t>
            </a:r>
          </a:p>
        </p:txBody>
      </p:sp>
      <p:sp>
        <p:nvSpPr>
          <p:cNvPr id="3" name="Rounded Rectangle 2"/>
          <p:cNvSpPr/>
          <p:nvPr/>
        </p:nvSpPr>
        <p:spPr>
          <a:xfrm>
            <a:off x="777240" y="2651760"/>
            <a:ext cx="1645920" cy="868680"/>
          </a:xfrm>
          <a:prstGeom prst="roundRect">
            <a:avLst/>
          </a:prstGeom>
          <a:solidFill>
            <a:srgbClr val="E0F1E5"/>
          </a:solidFill>
          <a:ln w="13970">
            <a:solidFill>
              <a:srgbClr val="539A5D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lIns="73152" rIns="73152" tIns="54864" bIns="54864"/>
          <a:lstStyle/>
          <a:p>
            <a:pPr algn="ctr"/>
            <a:r>
              <a:rPr sz="1300" b="1">
                <a:solidFill>
                  <a:srgbClr val="20252A"/>
                </a:solidFill>
                <a:latin typeface="Aptos"/>
              </a:rPr>
              <a:t>cell state
x_t or u_t</a:t>
            </a:r>
          </a:p>
        </p:txBody>
      </p:sp>
      <p:sp>
        <p:nvSpPr>
          <p:cNvPr id="4" name="Rounded Rectangle 3"/>
          <p:cNvSpPr/>
          <p:nvPr/>
        </p:nvSpPr>
        <p:spPr>
          <a:xfrm>
            <a:off x="777240" y="1234440"/>
            <a:ext cx="1645920" cy="868680"/>
          </a:xfrm>
          <a:prstGeom prst="roundRect">
            <a:avLst/>
          </a:prstGeom>
          <a:solidFill>
            <a:srgbClr val="F9EECF"/>
          </a:solidFill>
          <a:ln w="13970">
            <a:solidFill>
              <a:srgbClr val="D69E2E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lIns="73152" rIns="73152" tIns="54864" bIns="54864"/>
          <a:lstStyle/>
          <a:p>
            <a:pPr algn="ctr"/>
            <a:r>
              <a:rPr sz="1300" b="1">
                <a:solidFill>
                  <a:srgbClr val="20252A"/>
                </a:solidFill>
                <a:latin typeface="Aptos"/>
              </a:rPr>
              <a:t>cCRE + promoter
tokens for gene g</a:t>
            </a:r>
          </a:p>
        </p:txBody>
      </p:sp>
      <p:sp>
        <p:nvSpPr>
          <p:cNvPr id="5" name="Rounded Rectangle 4"/>
          <p:cNvSpPr/>
          <p:nvPr/>
        </p:nvSpPr>
        <p:spPr>
          <a:xfrm>
            <a:off x="2788920" y="1234440"/>
            <a:ext cx="1874519" cy="868680"/>
          </a:xfrm>
          <a:prstGeom prst="roundRect">
            <a:avLst/>
          </a:prstGeom>
          <a:solidFill>
            <a:srgbClr val="FFFFFF"/>
          </a:solidFill>
          <a:ln w="13970">
            <a:solidFill>
              <a:srgbClr val="D69E2E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lIns="73152" rIns="73152" tIns="54864" bIns="54864"/>
          <a:lstStyle/>
          <a:p>
            <a:pPr algn="ctr"/>
            <a:r>
              <a:rPr sz="1300" b="1">
                <a:solidFill>
                  <a:srgbClr val="20252A"/>
                </a:solidFill>
                <a:latin typeface="Aptos"/>
              </a:rPr>
              <a:t>AlphaGenome
sequence embeddings</a:t>
            </a:r>
          </a:p>
        </p:txBody>
      </p:sp>
      <p:sp>
        <p:nvSpPr>
          <p:cNvPr id="6" name="Rounded Rectangle 5"/>
          <p:cNvSpPr/>
          <p:nvPr/>
        </p:nvSpPr>
        <p:spPr>
          <a:xfrm>
            <a:off x="5074920" y="1234440"/>
            <a:ext cx="1965960" cy="2286000"/>
          </a:xfrm>
          <a:prstGeom prst="roundRect">
            <a:avLst/>
          </a:prstGeom>
          <a:solidFill>
            <a:srgbClr val="E1EBF7"/>
          </a:solidFill>
          <a:ln w="13970">
            <a:solidFill>
              <a:srgbClr val="3165A3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lIns="73152" rIns="73152" tIns="54864" bIns="54864"/>
          <a:lstStyle/>
          <a:p>
            <a:pPr algn="ctr"/>
            <a:r>
              <a:rPr sz="1300" b="1">
                <a:solidFill>
                  <a:srgbClr val="20252A"/>
                </a:solidFill>
                <a:latin typeface="Aptos"/>
              </a:rPr>
              <a:t>shared CRE
transformer layers</a:t>
            </a:r>
          </a:p>
        </p:txBody>
      </p:sp>
      <p:sp>
        <p:nvSpPr>
          <p:cNvPr id="7" name="Rounded Rectangle 6"/>
          <p:cNvSpPr/>
          <p:nvPr/>
        </p:nvSpPr>
        <p:spPr>
          <a:xfrm>
            <a:off x="7543800" y="2651760"/>
            <a:ext cx="1920240" cy="868680"/>
          </a:xfrm>
          <a:prstGeom prst="roundRect">
            <a:avLst/>
          </a:prstGeom>
          <a:solidFill>
            <a:srgbClr val="E0F1E5"/>
          </a:solidFill>
          <a:ln w="13970">
            <a:solidFill>
              <a:srgbClr val="539A5D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lIns="73152" rIns="73152" tIns="54864" bIns="54864"/>
          <a:lstStyle/>
          <a:p>
            <a:pPr algn="ctr"/>
            <a:r>
              <a:rPr sz="1300" b="1">
                <a:solidFill>
                  <a:srgbClr val="20252A"/>
                </a:solidFill>
                <a:latin typeface="Aptos"/>
              </a:rPr>
              <a:t>FiLM or
cross-attention</a:t>
            </a:r>
          </a:p>
        </p:txBody>
      </p:sp>
      <p:sp>
        <p:nvSpPr>
          <p:cNvPr id="8" name="Rounded Rectangle 7"/>
          <p:cNvSpPr/>
          <p:nvPr/>
        </p:nvSpPr>
        <p:spPr>
          <a:xfrm>
            <a:off x="7543800" y="1234440"/>
            <a:ext cx="1920240" cy="868680"/>
          </a:xfrm>
          <a:prstGeom prst="roundRect">
            <a:avLst/>
          </a:prstGeom>
          <a:solidFill>
            <a:srgbClr val="FFFFFF"/>
          </a:solidFill>
          <a:ln w="13970">
            <a:solidFill>
              <a:srgbClr val="705DB4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lIns="73152" rIns="73152" tIns="54864" bIns="54864"/>
          <a:lstStyle/>
          <a:p>
            <a:pPr algn="ctr"/>
            <a:r>
              <a:rPr sz="1300" b="1">
                <a:solidFill>
                  <a:srgbClr val="20252A"/>
                </a:solidFill>
                <a:latin typeface="Aptos"/>
              </a:rPr>
              <a:t>promoter token
readout</a:t>
            </a:r>
          </a:p>
        </p:txBody>
      </p:sp>
      <p:sp>
        <p:nvSpPr>
          <p:cNvPr id="9" name="Rounded Rectangle 8"/>
          <p:cNvSpPr/>
          <p:nvPr/>
        </p:nvSpPr>
        <p:spPr>
          <a:xfrm>
            <a:off x="9966960" y="1737360"/>
            <a:ext cx="1417320" cy="1143000"/>
          </a:xfrm>
          <a:prstGeom prst="roundRect">
            <a:avLst/>
          </a:prstGeom>
          <a:solidFill>
            <a:srgbClr val="FFFFFF"/>
          </a:solidFill>
          <a:ln w="13970">
            <a:solidFill>
              <a:srgbClr val="BE4B49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lIns="73152" rIns="73152" tIns="54864" bIns="54864"/>
          <a:lstStyle/>
          <a:p>
            <a:pPr algn="ctr"/>
            <a:r>
              <a:rPr sz="1300" b="1">
                <a:solidFill>
                  <a:srgbClr val="20252A"/>
                </a:solidFill>
                <a:latin typeface="Aptos"/>
              </a:rPr>
              <a:t>velocity
f_g(s_t, Z_g)</a:t>
            </a:r>
          </a:p>
        </p:txBody>
      </p:sp>
      <p:cxnSp>
        <p:nvCxnSpPr>
          <p:cNvPr id="10" name="Connector 9"/>
          <p:cNvCxnSpPr/>
          <p:nvPr/>
        </p:nvCxnSpPr>
        <p:spPr>
          <a:xfrm>
            <a:off x="2423160" y="1664208"/>
            <a:ext cx="365760" cy="0"/>
          </a:xfrm>
          <a:prstGeom prst="line">
            <a:avLst/>
          </a:prstGeom>
          <a:ln w="25400">
            <a:solidFill>
              <a:srgbClr val="5C6773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11" name="Connector 10"/>
          <p:cNvCxnSpPr/>
          <p:nvPr/>
        </p:nvCxnSpPr>
        <p:spPr>
          <a:xfrm>
            <a:off x="4663440" y="1664208"/>
            <a:ext cx="411480" cy="0"/>
          </a:xfrm>
          <a:prstGeom prst="line">
            <a:avLst/>
          </a:prstGeom>
          <a:ln w="25400">
            <a:solidFill>
              <a:srgbClr val="5C6773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12" name="Connector 11"/>
          <p:cNvCxnSpPr/>
          <p:nvPr/>
        </p:nvCxnSpPr>
        <p:spPr>
          <a:xfrm>
            <a:off x="7040880" y="1664208"/>
            <a:ext cx="502920" cy="0"/>
          </a:xfrm>
          <a:prstGeom prst="line">
            <a:avLst/>
          </a:prstGeom>
          <a:ln w="25400">
            <a:solidFill>
              <a:srgbClr val="5C6773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13" name="Connector 12"/>
          <p:cNvCxnSpPr/>
          <p:nvPr/>
        </p:nvCxnSpPr>
        <p:spPr>
          <a:xfrm>
            <a:off x="9464040" y="1664208"/>
            <a:ext cx="502920" cy="484632"/>
          </a:xfrm>
          <a:prstGeom prst="line">
            <a:avLst/>
          </a:prstGeom>
          <a:ln w="25400">
            <a:solidFill>
              <a:srgbClr val="5C6773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14" name="Connector 13"/>
          <p:cNvCxnSpPr/>
          <p:nvPr/>
        </p:nvCxnSpPr>
        <p:spPr>
          <a:xfrm>
            <a:off x="2423160" y="3090672"/>
            <a:ext cx="5120640" cy="0"/>
          </a:xfrm>
          <a:prstGeom prst="line">
            <a:avLst/>
          </a:prstGeom>
          <a:ln w="25400">
            <a:solidFill>
              <a:srgbClr val="5C6773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15" name="Connector 14"/>
          <p:cNvCxnSpPr/>
          <p:nvPr/>
        </p:nvCxnSpPr>
        <p:spPr>
          <a:xfrm flipV="1">
            <a:off x="9464040" y="2514600"/>
            <a:ext cx="502920" cy="576072"/>
          </a:xfrm>
          <a:prstGeom prst="line">
            <a:avLst/>
          </a:prstGeom>
          <a:ln w="25400">
            <a:solidFill>
              <a:srgbClr val="5C6773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sp>
        <p:nvSpPr>
          <p:cNvPr id="16" name="TextBox 15"/>
          <p:cNvSpPr txBox="1"/>
          <p:nvPr/>
        </p:nvSpPr>
        <p:spPr>
          <a:xfrm>
            <a:off x="1280160" y="4800600"/>
            <a:ext cx="9692640" cy="365760"/>
          </a:xfrm>
          <a:prstGeom prst="rect">
            <a:avLst/>
          </a:prstGeom>
          <a:noFill/>
        </p:spPr>
        <p:txBody>
          <a:bodyPr wrap="none" lIns="36576" rIns="36576" tIns="18288" bIns="18288" anchor="t">
            <a:spAutoFit/>
          </a:bodyPr>
          <a:lstStyle/>
          <a:p>
            <a:pPr algn="ctr"/>
            <a:r>
              <a:rPr sz="1600" b="1">
                <a:solidFill>
                  <a:srgbClr val="20252A"/>
                </a:solidFill>
                <a:latin typeface="Aptos"/>
              </a:rPr>
              <a:t>Gene specificity comes from linked sequence tokens; weights are shared across genes.</a:t>
            </a:r>
          </a:p>
        </p:txBody>
      </p:sp>
    </p:spTree>
  </p:cSld>
  <p:clrMapOvr>
    <a:masterClrMapping/>
  </p:clrMapOvr>
</p:sld>
</file>

<file path=ppt/slides/slide5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F8F9FA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2" name="TextBox 1"/>
          <p:cNvSpPr txBox="1"/>
          <p:nvPr/>
        </p:nvSpPr>
        <p:spPr>
          <a:xfrm>
            <a:off x="502920" y="237744"/>
            <a:ext cx="11155680" cy="438912"/>
          </a:xfrm>
          <a:prstGeom prst="rect">
            <a:avLst/>
          </a:prstGeom>
          <a:noFill/>
        </p:spPr>
        <p:txBody>
          <a:bodyPr wrap="none" lIns="36576" rIns="36576" tIns="18288" bIns="18288" anchor="t">
            <a:spAutoFit/>
          </a:bodyPr>
          <a:lstStyle/>
          <a:p>
            <a:pPr algn="l"/>
            <a:r>
              <a:rPr sz="2500" b="1">
                <a:solidFill>
                  <a:srgbClr val="20252A"/>
                </a:solidFill>
                <a:latin typeface="Aptos"/>
              </a:rPr>
              <a:t>Online UCE closes the expression-space vector field without endpoint leakage</a:t>
            </a:r>
          </a:p>
        </p:txBody>
      </p:sp>
      <p:sp>
        <p:nvSpPr>
          <p:cNvPr id="3" name="Rounded Rectangle 2"/>
          <p:cNvSpPr/>
          <p:nvPr/>
        </p:nvSpPr>
        <p:spPr>
          <a:xfrm>
            <a:off x="777240" y="1234440"/>
            <a:ext cx="1828800" cy="822960"/>
          </a:xfrm>
          <a:prstGeom prst="roundRect">
            <a:avLst/>
          </a:prstGeom>
          <a:solidFill>
            <a:srgbClr val="E1EBF7"/>
          </a:solidFill>
          <a:ln w="13970">
            <a:solidFill>
              <a:srgbClr val="3165A3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lIns="73152" rIns="73152" tIns="54864" bIns="54864"/>
          <a:lstStyle/>
          <a:p>
            <a:pPr algn="ctr"/>
            <a:r>
              <a:rPr sz="1300" b="1">
                <a:solidFill>
                  <a:srgbClr val="20252A"/>
                </a:solidFill>
                <a:latin typeface="Aptos"/>
              </a:rPr>
              <a:t>expression endpoints
x_k, x_k+1</a:t>
            </a:r>
          </a:p>
        </p:txBody>
      </p:sp>
      <p:sp>
        <p:nvSpPr>
          <p:cNvPr id="4" name="Rounded Rectangle 3"/>
          <p:cNvSpPr/>
          <p:nvPr/>
        </p:nvSpPr>
        <p:spPr>
          <a:xfrm>
            <a:off x="2926080" y="1234440"/>
            <a:ext cx="1828800" cy="822960"/>
          </a:xfrm>
          <a:prstGeom prst="roundRect">
            <a:avLst/>
          </a:prstGeom>
          <a:solidFill>
            <a:srgbClr val="F9EECF"/>
          </a:solidFill>
          <a:ln w="13970">
            <a:solidFill>
              <a:srgbClr val="D69E2E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lIns="73152" rIns="73152" tIns="54864" bIns="54864"/>
          <a:lstStyle/>
          <a:p>
            <a:pPr algn="ctr"/>
            <a:r>
              <a:rPr sz="1300" b="1">
                <a:solidFill>
                  <a:srgbClr val="20252A"/>
                </a:solidFill>
                <a:latin typeface="Aptos"/>
              </a:rPr>
              <a:t>OT pairs and
linear paths</a:t>
            </a:r>
          </a:p>
        </p:txBody>
      </p:sp>
      <p:sp>
        <p:nvSpPr>
          <p:cNvPr id="5" name="Rounded Rectangle 4"/>
          <p:cNvSpPr/>
          <p:nvPr/>
        </p:nvSpPr>
        <p:spPr>
          <a:xfrm>
            <a:off x="5074920" y="1234440"/>
            <a:ext cx="1828800" cy="822960"/>
          </a:xfrm>
          <a:prstGeom prst="roundRect">
            <a:avLst/>
          </a:prstGeom>
          <a:solidFill>
            <a:srgbClr val="FFFFFF"/>
          </a:solidFill>
          <a:ln w="13970">
            <a:solidFill>
              <a:srgbClr val="BE4B49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lIns="73152" rIns="73152" tIns="54864" bIns="54864"/>
          <a:lstStyle/>
          <a:p>
            <a:pPr algn="ctr"/>
            <a:r>
              <a:rPr sz="1300" b="1">
                <a:solidFill>
                  <a:srgbClr val="20252A"/>
                </a:solidFill>
                <a:latin typeface="Aptos"/>
              </a:rPr>
              <a:t>target expression
velocity</a:t>
            </a:r>
          </a:p>
        </p:txBody>
      </p:sp>
      <p:sp>
        <p:nvSpPr>
          <p:cNvPr id="6" name="Rounded Rectangle 5"/>
          <p:cNvSpPr/>
          <p:nvPr/>
        </p:nvSpPr>
        <p:spPr>
          <a:xfrm>
            <a:off x="2926080" y="3063240"/>
            <a:ext cx="1828800" cy="822960"/>
          </a:xfrm>
          <a:prstGeom prst="roundRect">
            <a:avLst/>
          </a:prstGeom>
          <a:solidFill>
            <a:srgbClr val="E1EBF7"/>
          </a:solidFill>
          <a:ln w="13970">
            <a:solidFill>
              <a:srgbClr val="3165A3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lIns="73152" rIns="73152" tIns="54864" bIns="54864"/>
          <a:lstStyle/>
          <a:p>
            <a:pPr algn="ctr"/>
            <a:r>
              <a:rPr sz="1300" b="1">
                <a:solidFill>
                  <a:srgbClr val="20252A"/>
                </a:solidFill>
                <a:latin typeface="Aptos"/>
              </a:rPr>
              <a:t>interpolated
expression x_t</a:t>
            </a:r>
          </a:p>
        </p:txBody>
      </p:sp>
      <p:sp>
        <p:nvSpPr>
          <p:cNvPr id="7" name="Rounded Rectangle 6"/>
          <p:cNvSpPr/>
          <p:nvPr/>
        </p:nvSpPr>
        <p:spPr>
          <a:xfrm>
            <a:off x="5074920" y="3063240"/>
            <a:ext cx="1828800" cy="822960"/>
          </a:xfrm>
          <a:prstGeom prst="roundRect">
            <a:avLst/>
          </a:prstGeom>
          <a:solidFill>
            <a:srgbClr val="E0F1E5"/>
          </a:solidFill>
          <a:ln w="13970">
            <a:solidFill>
              <a:srgbClr val="539A5D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lIns="73152" rIns="73152" tIns="54864" bIns="54864"/>
          <a:lstStyle/>
          <a:p>
            <a:pPr algn="ctr"/>
            <a:r>
              <a:rPr sz="1300" b="1">
                <a:solidFill>
                  <a:srgbClr val="20252A"/>
                </a:solidFill>
                <a:latin typeface="Aptos"/>
              </a:rPr>
              <a:t>frozen UCE
E(x_t) in R^1280</a:t>
            </a:r>
          </a:p>
        </p:txBody>
      </p:sp>
      <p:sp>
        <p:nvSpPr>
          <p:cNvPr id="8" name="Rounded Rectangle 7"/>
          <p:cNvSpPr/>
          <p:nvPr/>
        </p:nvSpPr>
        <p:spPr>
          <a:xfrm>
            <a:off x="7223760" y="2148840"/>
            <a:ext cx="1828800" cy="822960"/>
          </a:xfrm>
          <a:prstGeom prst="roundRect">
            <a:avLst/>
          </a:prstGeom>
          <a:solidFill>
            <a:srgbClr val="FFFFFF"/>
          </a:solidFill>
          <a:ln w="13970">
            <a:solidFill>
              <a:srgbClr val="705DB4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lIns="73152" rIns="73152" tIns="54864" bIns="54864"/>
          <a:lstStyle/>
          <a:p>
            <a:pPr algn="ctr"/>
            <a:r>
              <a:rPr sz="1300" b="1">
                <a:solidFill>
                  <a:srgbClr val="20252A"/>
                </a:solidFill>
                <a:latin typeface="Aptos"/>
              </a:rPr>
              <a:t>STREAM / CFM
vector field</a:t>
            </a:r>
          </a:p>
        </p:txBody>
      </p:sp>
      <p:sp>
        <p:nvSpPr>
          <p:cNvPr id="9" name="Rounded Rectangle 8"/>
          <p:cNvSpPr/>
          <p:nvPr/>
        </p:nvSpPr>
        <p:spPr>
          <a:xfrm>
            <a:off x="9372600" y="2148840"/>
            <a:ext cx="1828800" cy="822960"/>
          </a:xfrm>
          <a:prstGeom prst="roundRect">
            <a:avLst/>
          </a:prstGeom>
          <a:solidFill>
            <a:srgbClr val="FFFFFF"/>
          </a:solidFill>
          <a:ln w="13970">
            <a:solidFill>
              <a:srgbClr val="BE4B49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lIns="73152" rIns="73152" tIns="54864" bIns="54864"/>
          <a:lstStyle/>
          <a:p>
            <a:pPr algn="ctr"/>
            <a:r>
              <a:rPr sz="1300" b="1">
                <a:solidFill>
                  <a:srgbClr val="20252A"/>
                </a:solidFill>
                <a:latin typeface="Aptos"/>
              </a:rPr>
              <a:t>predicted expression
velocity</a:t>
            </a:r>
          </a:p>
        </p:txBody>
      </p:sp>
      <p:cxnSp>
        <p:nvCxnSpPr>
          <p:cNvPr id="10" name="Connector 9"/>
          <p:cNvCxnSpPr/>
          <p:nvPr/>
        </p:nvCxnSpPr>
        <p:spPr>
          <a:xfrm>
            <a:off x="2606040" y="1645920"/>
            <a:ext cx="320040" cy="0"/>
          </a:xfrm>
          <a:prstGeom prst="line">
            <a:avLst/>
          </a:prstGeom>
          <a:ln w="25400">
            <a:solidFill>
              <a:srgbClr val="5C6773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11" name="Connector 10"/>
          <p:cNvCxnSpPr/>
          <p:nvPr/>
        </p:nvCxnSpPr>
        <p:spPr>
          <a:xfrm>
            <a:off x="4754880" y="1645920"/>
            <a:ext cx="320040" cy="0"/>
          </a:xfrm>
          <a:prstGeom prst="line">
            <a:avLst/>
          </a:prstGeom>
          <a:ln w="25400">
            <a:solidFill>
              <a:srgbClr val="5C6773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12" name="Connector 11"/>
          <p:cNvCxnSpPr/>
          <p:nvPr/>
        </p:nvCxnSpPr>
        <p:spPr>
          <a:xfrm>
            <a:off x="2606040" y="1783080"/>
            <a:ext cx="320040" cy="1691640"/>
          </a:xfrm>
          <a:prstGeom prst="line">
            <a:avLst/>
          </a:prstGeom>
          <a:ln w="25400">
            <a:solidFill>
              <a:srgbClr val="5C6773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13" name="Connector 12"/>
          <p:cNvCxnSpPr/>
          <p:nvPr/>
        </p:nvCxnSpPr>
        <p:spPr>
          <a:xfrm>
            <a:off x="4754880" y="3474720"/>
            <a:ext cx="320040" cy="0"/>
          </a:xfrm>
          <a:prstGeom prst="line">
            <a:avLst/>
          </a:prstGeom>
          <a:ln w="25400">
            <a:solidFill>
              <a:srgbClr val="5C6773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14" name="Connector 13"/>
          <p:cNvCxnSpPr/>
          <p:nvPr/>
        </p:nvCxnSpPr>
        <p:spPr>
          <a:xfrm flipV="1">
            <a:off x="6903720" y="2560320"/>
            <a:ext cx="320040" cy="914400"/>
          </a:xfrm>
          <a:prstGeom prst="line">
            <a:avLst/>
          </a:prstGeom>
          <a:ln w="25400">
            <a:solidFill>
              <a:srgbClr val="5C6773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15" name="Connector 14"/>
          <p:cNvCxnSpPr/>
          <p:nvPr/>
        </p:nvCxnSpPr>
        <p:spPr>
          <a:xfrm>
            <a:off x="9052560" y="2560320"/>
            <a:ext cx="320040" cy="0"/>
          </a:xfrm>
          <a:prstGeom prst="line">
            <a:avLst/>
          </a:prstGeom>
          <a:ln w="25400">
            <a:solidFill>
              <a:srgbClr val="5C6773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graphicFrame>
        <p:nvGraphicFramePr>
          <p:cNvPr id="16" name="Table 15"/>
          <p:cNvGraphicFramePr>
            <a:graphicFrameLocks noGrp="1"/>
          </p:cNvGraphicFramePr>
          <p:nvPr/>
        </p:nvGraphicFramePr>
        <p:xfrm>
          <a:off x="1371600" y="4800600"/>
          <a:ext cx="9509760" cy="960120"/>
        </p:xfrm>
        <a:graphic>
          <a:graphicData uri="http://schemas.openxmlformats.org/drawingml/2006/table">
            <a:tbl>
              <a:tblPr firstRow="1" bandRow="1">
                <a:tableStyleId>{5C22544A-7EE6-4342-B048-85BDC9FD1C3A}</a:tableStyleId>
              </a:tblPr>
              <a:tblGrid>
                <a:gridCol w="3169920"/>
                <a:gridCol w="3169920"/>
                <a:gridCol w="3169920"/>
              </a:tblGrid>
              <a:tr h="320040">
                <a:tc>
                  <a:txBody>
                    <a:bodyPr/>
                    <a:lstStyle/>
                    <a:p>
                      <a:pPr algn="ctr"/>
                      <a:r>
                        <a:rPr sz="1100" b="1">
                          <a:solidFill>
                            <a:srgbClr val="FFFFFF"/>
                          </a:solidFill>
                          <a:latin typeface="Aptos"/>
                        </a:rPr>
                        <a:t>Run</a:t>
                      </a:r>
                    </a:p>
                  </a:txBody>
                  <a:tcPr>
                    <a:solidFill>
                      <a:srgbClr val="3165A3"/>
                    </a:solidFill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sz="1100" b="1">
                          <a:solidFill>
                            <a:srgbClr val="FFFFFF"/>
                          </a:solidFill>
                          <a:latin typeface="Aptos"/>
                        </a:rPr>
                        <a:t>Input to f</a:t>
                      </a:r>
                    </a:p>
                  </a:txBody>
                  <a:tcPr>
                    <a:solidFill>
                      <a:srgbClr val="3165A3"/>
                    </a:solidFill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sz="1100" b="1">
                          <a:solidFill>
                            <a:srgbClr val="FFFFFF"/>
                          </a:solidFill>
                          <a:latin typeface="Aptos"/>
                        </a:rPr>
                        <a:t>Output / loss</a:t>
                      </a:r>
                    </a:p>
                  </a:txBody>
                  <a:tcPr>
                    <a:solidFill>
                      <a:srgbClr val="3165A3"/>
                    </a:solidFill>
                  </a:tcPr>
                </a:tc>
              </a:tr>
              <a:tr h="320040">
                <a:tc>
                  <a:txBody>
                    <a:bodyPr/>
                    <a:lstStyle/>
                    <a:p>
                      <a:pPr algn="ctr"/>
                      <a:r>
                        <a:rPr sz="1100">
                          <a:solidFill>
                            <a:srgbClr val="20252A"/>
                          </a:solidFill>
                          <a:latin typeface="Aptos"/>
                        </a:rPr>
                        <a:t>Expression state</a:t>
                      </a:r>
                    </a:p>
                  </a:txBody>
                  <a:tcPr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sz="1100">
                          <a:solidFill>
                            <a:srgbClr val="20252A"/>
                          </a:solidFill>
                          <a:latin typeface="Aptos"/>
                        </a:rPr>
                        <a:t>x_t in R^G</a:t>
                      </a:r>
                    </a:p>
                  </a:txBody>
                  <a:tcPr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sz="1100">
                          <a:solidFill>
                            <a:srgbClr val="20252A"/>
                          </a:solidFill>
                          <a:latin typeface="Aptos"/>
                        </a:rPr>
                        <a:t>G-gene velocity</a:t>
                      </a:r>
                    </a:p>
                  </a:txBody>
                  <a:tcPr>
                    <a:solidFill>
                      <a:srgbClr val="FFFFFF"/>
                    </a:solidFill>
                  </a:tcPr>
                </a:tc>
              </a:tr>
              <a:tr h="320040">
                <a:tc>
                  <a:txBody>
                    <a:bodyPr/>
                    <a:lstStyle/>
                    <a:p>
                      <a:pPr algn="ctr"/>
                      <a:r>
                        <a:rPr sz="1100">
                          <a:solidFill>
                            <a:srgbClr val="20252A"/>
                          </a:solidFill>
                          <a:latin typeface="Aptos"/>
                        </a:rPr>
                        <a:t>Online UCE</a:t>
                      </a:r>
                    </a:p>
                  </a:txBody>
                  <a:tcPr>
                    <a:solidFill>
                      <a:srgbClr val="F1F4F7"/>
                    </a:solidFill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sz="1100">
                          <a:solidFill>
                            <a:srgbClr val="20252A"/>
                          </a:solidFill>
                          <a:latin typeface="Aptos"/>
                        </a:rPr>
                        <a:t>E(x_t) in R^1280</a:t>
                      </a:r>
                    </a:p>
                  </a:txBody>
                  <a:tcPr>
                    <a:solidFill>
                      <a:srgbClr val="F1F4F7"/>
                    </a:solidFill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sz="1100">
                          <a:solidFill>
                            <a:srgbClr val="20252A"/>
                          </a:solidFill>
                          <a:latin typeface="Aptos"/>
                        </a:rPr>
                        <a:t>G-gene velocity</a:t>
                      </a:r>
                    </a:p>
                  </a:txBody>
                  <a:tcPr>
                    <a:solidFill>
                      <a:srgbClr val="F1F4F7"/>
                    </a:solidFill>
                  </a:tcPr>
                </a:tc>
              </a:tr>
            </a:tbl>
          </a:graphicData>
        </a:graphic>
      </p:graphicFrame>
    </p:spTree>
  </p:cSld>
  <p:clrMapOvr>
    <a:masterClrMapping/>
  </p:clrMapOvr>
</p:sld>
</file>

<file path=ppt/slides/slide6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F8F9FA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2" name="TextBox 1"/>
          <p:cNvSpPr txBox="1"/>
          <p:nvPr/>
        </p:nvSpPr>
        <p:spPr>
          <a:xfrm>
            <a:off x="502920" y="237744"/>
            <a:ext cx="11155680" cy="438912"/>
          </a:xfrm>
          <a:prstGeom prst="rect">
            <a:avLst/>
          </a:prstGeom>
          <a:noFill/>
        </p:spPr>
        <p:txBody>
          <a:bodyPr wrap="none" lIns="36576" rIns="36576" tIns="18288" bIns="18288" anchor="t">
            <a:spAutoFit/>
          </a:bodyPr>
          <a:lstStyle/>
          <a:p>
            <a:pPr algn="l"/>
            <a:r>
              <a:rPr sz="2500" b="1">
                <a:solidFill>
                  <a:srgbClr val="20252A"/>
                </a:solidFill>
                <a:latin typeface="Aptos"/>
              </a:rPr>
              <a:t>Learned vector fields can be visualized as velocity streams on the cell atlas</a:t>
            </a:r>
          </a:p>
        </p:txBody>
      </p:sp>
      <p:sp>
        <p:nvSpPr>
          <p:cNvPr id="3" name="Rounded Rectangle 2"/>
          <p:cNvSpPr/>
          <p:nvPr/>
        </p:nvSpPr>
        <p:spPr>
          <a:xfrm>
            <a:off x="1161288" y="978408"/>
            <a:ext cx="2468880" cy="384048"/>
          </a:xfrm>
          <a:prstGeom prst="roundRect">
            <a:avLst/>
          </a:prstGeom>
          <a:solidFill>
            <a:srgbClr val="E1EBF7"/>
          </a:solidFill>
          <a:ln w="13970">
            <a:solidFill>
              <a:srgbClr val="3165A3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lIns="73152" rIns="73152" tIns="54864" bIns="54864"/>
          <a:lstStyle/>
          <a:p>
            <a:pPr algn="ctr"/>
            <a:r>
              <a:rPr sz="1200" b="1">
                <a:solidFill>
                  <a:srgbClr val="20252A"/>
                </a:solidFill>
                <a:latin typeface="Aptos"/>
              </a:rPr>
              <a:t>CFM</a:t>
            </a:r>
          </a:p>
        </p:txBody>
      </p:sp>
      <p:pic>
        <p:nvPicPr>
          <p:cNvPr id="4" name="Picture 3" descr="velocity_embedding_stream_standard_cfm.png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502920" y="2192301"/>
            <a:ext cx="3566160" cy="2555693"/>
          </a:xfrm>
          <a:prstGeom prst="rect">
            <a:avLst/>
          </a:prstGeom>
        </p:spPr>
      </p:pic>
      <p:sp>
        <p:nvSpPr>
          <p:cNvPr id="5" name="Rounded Rectangle 4"/>
          <p:cNvSpPr/>
          <p:nvPr/>
        </p:nvSpPr>
        <p:spPr>
          <a:xfrm>
            <a:off x="5001768" y="978408"/>
            <a:ext cx="2468880" cy="384048"/>
          </a:xfrm>
          <a:prstGeom prst="roundRect">
            <a:avLst/>
          </a:prstGeom>
          <a:solidFill>
            <a:srgbClr val="E0F1E5"/>
          </a:solidFill>
          <a:ln w="13970">
            <a:solidFill>
              <a:srgbClr val="539A5D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lIns="73152" rIns="73152" tIns="54864" bIns="54864"/>
          <a:lstStyle/>
          <a:p>
            <a:pPr algn="ctr"/>
            <a:r>
              <a:rPr sz="1200" b="1">
                <a:solidFill>
                  <a:srgbClr val="20252A"/>
                </a:solidFill>
                <a:latin typeface="Aptos"/>
              </a:rPr>
              <a:t>FiLM STREAM</a:t>
            </a:r>
          </a:p>
        </p:txBody>
      </p:sp>
      <p:pic>
        <p:nvPicPr>
          <p:cNvPr id="6" name="Picture 5" descr="velocity_embedding_stream_film.png"/>
          <p:cNvPicPr>
            <a:picLocks noChangeAspect="1"/>
          </p:cNvPicPr>
          <p:nvPr/>
        </p:nvPicPr>
        <p:blipFill>
          <a:blip r:embed="rId3"/>
          <a:stretch>
            <a:fillRect/>
          </a:stretch>
        </p:blipFill>
        <p:spPr>
          <a:xfrm>
            <a:off x="4343400" y="2192301"/>
            <a:ext cx="3566160" cy="2555693"/>
          </a:xfrm>
          <a:prstGeom prst="rect">
            <a:avLst/>
          </a:prstGeom>
        </p:spPr>
      </p:pic>
      <p:sp>
        <p:nvSpPr>
          <p:cNvPr id="7" name="Rounded Rectangle 6"/>
          <p:cNvSpPr/>
          <p:nvPr/>
        </p:nvSpPr>
        <p:spPr>
          <a:xfrm>
            <a:off x="8842248" y="978408"/>
            <a:ext cx="2468880" cy="384048"/>
          </a:xfrm>
          <a:prstGeom prst="roundRect">
            <a:avLst/>
          </a:prstGeom>
          <a:solidFill>
            <a:srgbClr val="E0F1E5"/>
          </a:solidFill>
          <a:ln w="13970">
            <a:solidFill>
              <a:srgbClr val="539A5D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lIns="73152" rIns="73152" tIns="54864" bIns="54864"/>
          <a:lstStyle/>
          <a:p>
            <a:pPr algn="ctr"/>
            <a:r>
              <a:rPr sz="1200" b="1">
                <a:solidFill>
                  <a:srgbClr val="20252A"/>
                </a:solidFill>
                <a:latin typeface="Aptos"/>
              </a:rPr>
              <a:t>Cross-attn STREAM</a:t>
            </a:r>
          </a:p>
        </p:txBody>
      </p:sp>
      <p:pic>
        <p:nvPicPr>
          <p:cNvPr id="8" name="Picture 7" descr="velocity_embedding_stream_cross_attention.png"/>
          <p:cNvPicPr>
            <a:picLocks noChangeAspect="1"/>
          </p:cNvPicPr>
          <p:nvPr/>
        </p:nvPicPr>
        <p:blipFill>
          <a:blip r:embed="rId4"/>
          <a:stretch>
            <a:fillRect/>
          </a:stretch>
        </p:blipFill>
        <p:spPr>
          <a:xfrm>
            <a:off x="8183880" y="2192301"/>
            <a:ext cx="3566160" cy="2555693"/>
          </a:xfrm>
          <a:prstGeom prst="rect">
            <a:avLst/>
          </a:prstGeom>
        </p:spPr>
      </p:pic>
      <p:sp>
        <p:nvSpPr>
          <p:cNvPr id="9" name="TextBox 8"/>
          <p:cNvSpPr txBox="1"/>
          <p:nvPr/>
        </p:nvSpPr>
        <p:spPr>
          <a:xfrm>
            <a:off x="868680" y="5742432"/>
            <a:ext cx="10515600" cy="320040"/>
          </a:xfrm>
          <a:prstGeom prst="rect">
            <a:avLst/>
          </a:prstGeom>
          <a:noFill/>
        </p:spPr>
        <p:txBody>
          <a:bodyPr wrap="none" lIns="36576" rIns="36576" tIns="18288" bIns="18288" anchor="t">
            <a:spAutoFit/>
          </a:bodyPr>
          <a:lstStyle/>
          <a:p>
            <a:pPr algn="ctr"/>
            <a:r>
              <a:rPr sz="1200" b="0">
                <a:solidFill>
                  <a:srgbClr val="5C6773"/>
                </a:solidFill>
                <a:latin typeface="Aptos"/>
              </a:rPr>
              <a:t>Illustrative stream plots show how model-predicted velocities align with the atlas manifold.</a:t>
            </a:r>
          </a:p>
        </p:txBody>
      </p:sp>
    </p:spTree>
  </p:cSld>
  <p:clrMapOvr>
    <a:masterClrMapping/>
  </p:clrMapOvr>
</p:sld>
</file>

<file path=ppt/slides/slide7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F8F9FA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2" name="TextBox 1"/>
          <p:cNvSpPr txBox="1"/>
          <p:nvPr/>
        </p:nvSpPr>
        <p:spPr>
          <a:xfrm>
            <a:off x="502920" y="237744"/>
            <a:ext cx="11155680" cy="438912"/>
          </a:xfrm>
          <a:prstGeom prst="rect">
            <a:avLst/>
          </a:prstGeom>
          <a:noFill/>
        </p:spPr>
        <p:txBody>
          <a:bodyPr wrap="none" lIns="36576" rIns="36576" tIns="18288" bIns="18288" anchor="t">
            <a:spAutoFit/>
          </a:bodyPr>
          <a:lstStyle/>
          <a:p>
            <a:pPr algn="l"/>
            <a:r>
              <a:rPr sz="2500" b="1">
                <a:solidFill>
                  <a:srgbClr val="20252A"/>
                </a:solidFill>
                <a:latin typeface="Aptos"/>
              </a:rPr>
              <a:t>Mouse conditional-fit diagnostic: 10k genes lowers full-panel velocity loss</a:t>
            </a:r>
          </a:p>
        </p:txBody>
      </p:sp>
      <p:pic>
        <p:nvPicPr>
          <p:cNvPr id="3" name="Picture 2" descr="mouse_full_panel.png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685800" y="1211579"/>
            <a:ext cx="7680960" cy="3840480"/>
          </a:xfrm>
          <a:prstGeom prst="rect">
            <a:avLst/>
          </a:prstGeom>
        </p:spPr>
      </p:pic>
      <p:sp>
        <p:nvSpPr>
          <p:cNvPr id="4" name="Rectangle 3"/>
          <p:cNvSpPr/>
          <p:nvPr/>
        </p:nvSpPr>
        <p:spPr>
          <a:xfrm>
            <a:off x="8641080" y="1325880"/>
            <a:ext cx="2194560" cy="914400"/>
          </a:xfrm>
          <a:prstGeom prst="rect">
            <a:avLst/>
          </a:prstGeom>
          <a:solidFill>
            <a:srgbClr val="E0F1E5"/>
          </a:solidFill>
          <a:ln w="13970">
            <a:solidFill>
              <a:srgbClr val="D2D8DE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lIns="73152" rIns="73152" tIns="54864" bIns="54864"/>
          <a:lstStyle/>
          <a:p>
            <a:pPr algn="ctr"/>
            <a:r>
              <a:rPr sz="1300" b="0">
                <a:solidFill>
                  <a:srgbClr val="20252A"/>
                </a:solidFill>
                <a:latin typeface="Aptos"/>
              </a:rPr>
              <a:t/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8695944" y="1453895"/>
            <a:ext cx="2084831" cy="329184"/>
          </a:xfrm>
          <a:prstGeom prst="rect">
            <a:avLst/>
          </a:prstGeom>
          <a:noFill/>
        </p:spPr>
        <p:txBody>
          <a:bodyPr wrap="none" lIns="36576" rIns="36576" tIns="18288" bIns="18288" anchor="t">
            <a:spAutoFit/>
          </a:bodyPr>
          <a:lstStyle/>
          <a:p>
            <a:pPr algn="ctr"/>
            <a:r>
              <a:rPr sz="2300" b="1">
                <a:solidFill>
                  <a:srgbClr val="20252A"/>
                </a:solidFill>
                <a:latin typeface="Aptos"/>
              </a:rPr>
              <a:t>20.28</a:t>
            </a:r>
          </a:p>
        </p:txBody>
      </p:sp>
      <p:sp>
        <p:nvSpPr>
          <p:cNvPr id="6" name="TextBox 5"/>
          <p:cNvSpPr txBox="1"/>
          <p:nvPr/>
        </p:nvSpPr>
        <p:spPr>
          <a:xfrm>
            <a:off x="8714232" y="1856231"/>
            <a:ext cx="2048255" cy="365760"/>
          </a:xfrm>
          <a:prstGeom prst="rect">
            <a:avLst/>
          </a:prstGeom>
          <a:noFill/>
        </p:spPr>
        <p:txBody>
          <a:bodyPr wrap="none" lIns="36576" rIns="36576" tIns="18288" bIns="18288" anchor="t">
            <a:spAutoFit/>
          </a:bodyPr>
          <a:lstStyle/>
          <a:p>
            <a:pPr algn="ctr"/>
            <a:r>
              <a:rPr sz="1000" b="0">
                <a:solidFill>
                  <a:srgbClr val="5C6773"/>
                </a:solidFill>
                <a:latin typeface="Aptos"/>
              </a:rPr>
              <a:t>best 10k MSE</a:t>
            </a:r>
          </a:p>
        </p:txBody>
      </p:sp>
      <p:sp>
        <p:nvSpPr>
          <p:cNvPr id="7" name="TextBox 6"/>
          <p:cNvSpPr txBox="1"/>
          <p:nvPr/>
        </p:nvSpPr>
        <p:spPr>
          <a:xfrm>
            <a:off x="8732520" y="2212848"/>
            <a:ext cx="2011680" cy="256032"/>
          </a:xfrm>
          <a:prstGeom prst="rect">
            <a:avLst/>
          </a:prstGeom>
          <a:noFill/>
        </p:spPr>
        <p:txBody>
          <a:bodyPr wrap="none" lIns="36576" rIns="36576" tIns="18288" bIns="18288" anchor="t">
            <a:spAutoFit/>
          </a:bodyPr>
          <a:lstStyle/>
          <a:p>
            <a:pPr algn="ctr"/>
            <a:r>
              <a:rPr sz="1300" b="1">
                <a:solidFill>
                  <a:srgbClr val="20252A"/>
                </a:solidFill>
                <a:latin typeface="Aptos"/>
              </a:rPr>
              <a:t>Cross-attn + UCE</a:t>
            </a:r>
          </a:p>
        </p:txBody>
      </p:sp>
      <p:sp>
        <p:nvSpPr>
          <p:cNvPr id="8" name="Rectangle 7"/>
          <p:cNvSpPr/>
          <p:nvPr/>
        </p:nvSpPr>
        <p:spPr>
          <a:xfrm>
            <a:off x="8641080" y="2788920"/>
            <a:ext cx="2194560" cy="914400"/>
          </a:xfrm>
          <a:prstGeom prst="rect">
            <a:avLst/>
          </a:prstGeom>
          <a:solidFill>
            <a:srgbClr val="E1EBF7"/>
          </a:solidFill>
          <a:ln w="13970">
            <a:solidFill>
              <a:srgbClr val="D2D8DE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lIns="73152" rIns="73152" tIns="54864" bIns="54864"/>
          <a:lstStyle/>
          <a:p>
            <a:pPr algn="ctr"/>
            <a:r>
              <a:rPr sz="1300" b="0">
                <a:solidFill>
                  <a:srgbClr val="20252A"/>
                </a:solidFill>
                <a:latin typeface="Aptos"/>
              </a:rPr>
              <a:t/>
            </a:r>
          </a:p>
        </p:txBody>
      </p:sp>
      <p:sp>
        <p:nvSpPr>
          <p:cNvPr id="9" name="TextBox 8"/>
          <p:cNvSpPr txBox="1"/>
          <p:nvPr/>
        </p:nvSpPr>
        <p:spPr>
          <a:xfrm>
            <a:off x="8695944" y="2916936"/>
            <a:ext cx="2084831" cy="329184"/>
          </a:xfrm>
          <a:prstGeom prst="rect">
            <a:avLst/>
          </a:prstGeom>
          <a:noFill/>
        </p:spPr>
        <p:txBody>
          <a:bodyPr wrap="none" lIns="36576" rIns="36576" tIns="18288" bIns="18288" anchor="t">
            <a:spAutoFit/>
          </a:bodyPr>
          <a:lstStyle/>
          <a:p>
            <a:pPr algn="ctr"/>
            <a:r>
              <a:rPr sz="2300" b="1">
                <a:solidFill>
                  <a:srgbClr val="20252A"/>
                </a:solidFill>
                <a:latin typeface="Aptos"/>
              </a:rPr>
              <a:t>1.594</a:t>
            </a:r>
          </a:p>
        </p:txBody>
      </p:sp>
      <p:sp>
        <p:nvSpPr>
          <p:cNvPr id="10" name="TextBox 9"/>
          <p:cNvSpPr txBox="1"/>
          <p:nvPr/>
        </p:nvSpPr>
        <p:spPr>
          <a:xfrm>
            <a:off x="8714232" y="3319272"/>
            <a:ext cx="2048255" cy="365760"/>
          </a:xfrm>
          <a:prstGeom prst="rect">
            <a:avLst/>
          </a:prstGeom>
          <a:noFill/>
        </p:spPr>
        <p:txBody>
          <a:bodyPr wrap="none" lIns="36576" rIns="36576" tIns="18288" bIns="18288" anchor="t">
            <a:spAutoFit/>
          </a:bodyPr>
          <a:lstStyle/>
          <a:p>
            <a:pPr algn="ctr"/>
            <a:r>
              <a:rPr sz="1000" b="0">
                <a:solidFill>
                  <a:srgbClr val="5C6773"/>
                </a:solidFill>
                <a:latin typeface="Aptos"/>
              </a:rPr>
              <a:t>best 10k MAE</a:t>
            </a:r>
          </a:p>
        </p:txBody>
      </p:sp>
      <p:sp>
        <p:nvSpPr>
          <p:cNvPr id="11" name="TextBox 10"/>
          <p:cNvSpPr txBox="1"/>
          <p:nvPr/>
        </p:nvSpPr>
        <p:spPr>
          <a:xfrm>
            <a:off x="8732520" y="3675887"/>
            <a:ext cx="2011680" cy="256032"/>
          </a:xfrm>
          <a:prstGeom prst="rect">
            <a:avLst/>
          </a:prstGeom>
          <a:noFill/>
        </p:spPr>
        <p:txBody>
          <a:bodyPr wrap="none" lIns="36576" rIns="36576" tIns="18288" bIns="18288" anchor="t">
            <a:spAutoFit/>
          </a:bodyPr>
          <a:lstStyle/>
          <a:p>
            <a:pPr algn="ctr"/>
            <a:r>
              <a:rPr sz="1300" b="1">
                <a:solidFill>
                  <a:srgbClr val="20252A"/>
                </a:solidFill>
                <a:latin typeface="Aptos"/>
              </a:rPr>
              <a:t>Cross-attn + UCE</a:t>
            </a:r>
          </a:p>
        </p:txBody>
      </p:sp>
      <p:sp>
        <p:nvSpPr>
          <p:cNvPr id="12" name="TextBox 11"/>
          <p:cNvSpPr txBox="1"/>
          <p:nvPr/>
        </p:nvSpPr>
        <p:spPr>
          <a:xfrm>
            <a:off x="822960" y="5715000"/>
            <a:ext cx="10241280" cy="365760"/>
          </a:xfrm>
          <a:prstGeom prst="rect">
            <a:avLst/>
          </a:prstGeom>
          <a:noFill/>
        </p:spPr>
        <p:txBody>
          <a:bodyPr wrap="none" lIns="36576" rIns="36576" tIns="18288" bIns="18288" anchor="t">
            <a:spAutoFit/>
          </a:bodyPr>
          <a:lstStyle/>
          <a:p>
            <a:pPr algn="ctr"/>
            <a:r>
              <a:rPr sz="1200" b="0">
                <a:solidFill>
                  <a:srgbClr val="5C6773"/>
                </a:solidFill>
                <a:latin typeface="Aptos"/>
              </a:rPr>
              <a:t>These OT-path losses use both endpoints and diagnose vector-field fit; they are not causal forecasts.</a:t>
            </a:r>
          </a:p>
        </p:txBody>
      </p:sp>
    </p:spTree>
  </p:cSld>
  <p:clrMapOvr>
    <a:masterClrMapping/>
  </p:clrMapOvr>
</p:sld>
</file>

<file path=ppt/slides/slide8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F8F9FA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2" name="TextBox 1"/>
          <p:cNvSpPr txBox="1"/>
          <p:nvPr/>
        </p:nvSpPr>
        <p:spPr>
          <a:xfrm>
            <a:off x="502920" y="237744"/>
            <a:ext cx="11155680" cy="438912"/>
          </a:xfrm>
          <a:prstGeom prst="rect">
            <a:avLst/>
          </a:prstGeom>
          <a:noFill/>
        </p:spPr>
        <p:txBody>
          <a:bodyPr wrap="none" lIns="36576" rIns="36576" tIns="18288" bIns="18288" anchor="t">
            <a:spAutoFit/>
          </a:bodyPr>
          <a:lstStyle/>
          <a:p>
            <a:pPr algn="l"/>
            <a:r>
              <a:rPr sz="2500" b="1">
                <a:solidFill>
                  <a:srgbClr val="20252A"/>
                </a:solidFill>
                <a:latin typeface="Aptos"/>
              </a:rPr>
              <a:t>Conditional fit on a fixed legacy panel improves for 10k cross-attention</a:t>
            </a:r>
          </a:p>
        </p:txBody>
      </p:sp>
      <p:pic>
        <p:nvPicPr>
          <p:cNvPr id="3" name="Picture 2" descr="legacy_heatmap.png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777240" y="1234439"/>
            <a:ext cx="7680960" cy="3200400"/>
          </a:xfrm>
          <a:prstGeom prst="rect">
            <a:avLst/>
          </a:prstGeom>
        </p:spPr>
      </p:pic>
      <p:sp>
        <p:nvSpPr>
          <p:cNvPr id="4" name="Rounded Rectangle 3"/>
          <p:cNvSpPr/>
          <p:nvPr/>
        </p:nvSpPr>
        <p:spPr>
          <a:xfrm>
            <a:off x="8823960" y="1371600"/>
            <a:ext cx="2331720" cy="777240"/>
          </a:xfrm>
          <a:prstGeom prst="roundRect">
            <a:avLst/>
          </a:prstGeom>
          <a:solidFill>
            <a:srgbClr val="F9E0DC"/>
          </a:solidFill>
          <a:ln w="13970">
            <a:solidFill>
              <a:srgbClr val="BE4B49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lIns="73152" rIns="73152" tIns="54864" bIns="54864"/>
          <a:lstStyle/>
          <a:p>
            <a:pPr algn="ctr"/>
            <a:r>
              <a:rPr sz="1300" b="1">
                <a:solidFill>
                  <a:srgbClr val="20252A"/>
                </a:solidFill>
                <a:latin typeface="Aptos"/>
              </a:rPr>
              <a:t>5k models do not improve the 1,984-gene metric</a:t>
            </a:r>
          </a:p>
        </p:txBody>
      </p:sp>
      <p:sp>
        <p:nvSpPr>
          <p:cNvPr id="5" name="Rounded Rectangle 4"/>
          <p:cNvSpPr/>
          <p:nvPr/>
        </p:nvSpPr>
        <p:spPr>
          <a:xfrm>
            <a:off x="8823960" y="2514600"/>
            <a:ext cx="2331720" cy="868680"/>
          </a:xfrm>
          <a:prstGeom prst="roundRect">
            <a:avLst/>
          </a:prstGeom>
          <a:solidFill>
            <a:srgbClr val="E0F1E5"/>
          </a:solidFill>
          <a:ln w="13970">
            <a:solidFill>
              <a:srgbClr val="539A5D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lIns="73152" rIns="73152" tIns="54864" bIns="54864"/>
          <a:lstStyle/>
          <a:p>
            <a:pPr algn="ctr"/>
            <a:r>
              <a:rPr sz="1300" b="1">
                <a:solidFill>
                  <a:srgbClr val="20252A"/>
                </a:solidFill>
                <a:latin typeface="Aptos"/>
              </a:rPr>
              <a:t>10k cross-attention improves loss from 84.8 to 80.5</a:t>
            </a:r>
          </a:p>
        </p:txBody>
      </p:sp>
      <p:sp>
        <p:nvSpPr>
          <p:cNvPr id="6" name="Rounded Rectangle 5"/>
          <p:cNvSpPr/>
          <p:nvPr/>
        </p:nvSpPr>
        <p:spPr>
          <a:xfrm>
            <a:off x="8823960" y="3840480"/>
            <a:ext cx="2331720" cy="868680"/>
          </a:xfrm>
          <a:prstGeom prst="roundRect">
            <a:avLst/>
          </a:prstGeom>
          <a:solidFill>
            <a:srgbClr val="E0F1E5"/>
          </a:solidFill>
          <a:ln w="13970">
            <a:solidFill>
              <a:srgbClr val="539A5D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lIns="73152" rIns="73152" tIns="54864" bIns="54864"/>
          <a:lstStyle/>
          <a:p>
            <a:pPr algn="ctr"/>
            <a:r>
              <a:rPr sz="1300" b="1">
                <a:solidFill>
                  <a:srgbClr val="20252A"/>
                </a:solidFill>
                <a:latin typeface="Aptos"/>
              </a:rPr>
              <a:t>10k UCE cross-attention improves further to 78.7</a:t>
            </a:r>
          </a:p>
        </p:txBody>
      </p:sp>
      <p:sp>
        <p:nvSpPr>
          <p:cNvPr id="7" name="TextBox 6"/>
          <p:cNvSpPr txBox="1"/>
          <p:nvPr/>
        </p:nvSpPr>
        <p:spPr>
          <a:xfrm>
            <a:off x="914400" y="5486400"/>
            <a:ext cx="10058400" cy="365760"/>
          </a:xfrm>
          <a:prstGeom prst="rect">
            <a:avLst/>
          </a:prstGeom>
          <a:noFill/>
        </p:spPr>
        <p:txBody>
          <a:bodyPr wrap="none" lIns="36576" rIns="36576" tIns="18288" bIns="18288" anchor="t">
            <a:spAutoFit/>
          </a:bodyPr>
          <a:lstStyle/>
          <a:p>
            <a:pPr algn="ctr"/>
            <a:r>
              <a:rPr sz="1300" b="0">
                <a:solidFill>
                  <a:srgbClr val="5C6773"/>
                </a:solidFill>
                <a:latin typeface="Aptos"/>
              </a:rPr>
              <a:t>Numbers are OT-path velocity MSE on the same original gene panel; lower is better.</a:t>
            </a:r>
          </a:p>
        </p:txBody>
      </p:sp>
    </p:spTree>
  </p:cSld>
  <p:clrMapOvr>
    <a:masterClrMapping/>
  </p:clrMapOvr>
</p:sld>
</file>

<file path=ppt/slides/slide9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F8F9FA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2" name="TextBox 1"/>
          <p:cNvSpPr txBox="1"/>
          <p:nvPr/>
        </p:nvSpPr>
        <p:spPr>
          <a:xfrm>
            <a:off x="502920" y="237744"/>
            <a:ext cx="11155680" cy="438912"/>
          </a:xfrm>
          <a:prstGeom prst="rect">
            <a:avLst/>
          </a:prstGeom>
          <a:noFill/>
        </p:spPr>
        <p:txBody>
          <a:bodyPr wrap="none" lIns="36576" rIns="36576" tIns="18288" bIns="18288" anchor="t">
            <a:spAutoFit/>
          </a:bodyPr>
          <a:lstStyle/>
          <a:p>
            <a:pPr algn="l"/>
            <a:r>
              <a:rPr sz="2500" b="1">
                <a:solidFill>
                  <a:srgbClr val="20252A"/>
                </a:solidFill>
                <a:latin typeface="Aptos"/>
              </a:rPr>
              <a:t>Legacy UCE improves conditional fit but does not establish forecasting</a:t>
            </a:r>
          </a:p>
        </p:txBody>
      </p:sp>
      <p:graphicFrame>
        <p:nvGraphicFramePr>
          <p:cNvPr id="3" name="Table 2"/>
          <p:cNvGraphicFramePr>
            <a:graphicFrameLocks noGrp="1"/>
          </p:cNvGraphicFramePr>
          <p:nvPr/>
        </p:nvGraphicFramePr>
        <p:xfrm>
          <a:off x="822960" y="1234440"/>
          <a:ext cx="4937760" cy="2011680"/>
        </p:xfrm>
        <a:graphic>
          <a:graphicData uri="http://schemas.openxmlformats.org/drawingml/2006/table">
            <a:tbl>
              <a:tblPr firstRow="1" bandRow="1">
                <a:tableStyleId>{5C22544A-7EE6-4342-B048-85BDC9FD1C3A}</a:tableStyleId>
              </a:tblPr>
              <a:tblGrid>
                <a:gridCol w="1645920"/>
                <a:gridCol w="1645920"/>
                <a:gridCol w="1645920"/>
              </a:tblGrid>
              <a:tr h="402336">
                <a:tc>
                  <a:txBody>
                    <a:bodyPr/>
                    <a:lstStyle/>
                    <a:p>
                      <a:pPr algn="ctr"/>
                      <a:r>
                        <a:rPr sz="1300" b="1">
                          <a:solidFill>
                            <a:srgbClr val="FFFFFF"/>
                          </a:solidFill>
                          <a:latin typeface="Aptos"/>
                        </a:rPr>
                        <a:t>Model</a:t>
                      </a:r>
                    </a:p>
                  </a:txBody>
                  <a:tcPr>
                    <a:solidFill>
                      <a:srgbClr val="3165A3"/>
                    </a:solidFill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sz="1300" b="1">
                          <a:solidFill>
                            <a:srgbClr val="FFFFFF"/>
                          </a:solidFill>
                          <a:latin typeface="Aptos"/>
                        </a:rPr>
                        <a:t>MSE</a:t>
                      </a:r>
                    </a:p>
                  </a:txBody>
                  <a:tcPr>
                    <a:solidFill>
                      <a:srgbClr val="3165A3"/>
                    </a:solidFill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sz="1300" b="1">
                          <a:solidFill>
                            <a:srgbClr val="FFFFFF"/>
                          </a:solidFill>
                          <a:latin typeface="Aptos"/>
                        </a:rPr>
                        <a:t>MAE</a:t>
                      </a:r>
                    </a:p>
                  </a:txBody>
                  <a:tcPr>
                    <a:solidFill>
                      <a:srgbClr val="3165A3"/>
                    </a:solidFill>
                  </a:tcPr>
                </a:tc>
              </a:tr>
              <a:tr h="402336">
                <a:tc>
                  <a:txBody>
                    <a:bodyPr/>
                    <a:lstStyle/>
                    <a:p>
                      <a:pPr algn="ctr"/>
                      <a:r>
                        <a:rPr sz="1300">
                          <a:solidFill>
                            <a:srgbClr val="20252A"/>
                          </a:solidFill>
                          <a:latin typeface="Aptos"/>
                        </a:rPr>
                        <a:t>Cross-attn + UCE</a:t>
                      </a:r>
                    </a:p>
                  </a:txBody>
                  <a:tcPr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sz="1300">
                          <a:solidFill>
                            <a:srgbClr val="20252A"/>
                          </a:solidFill>
                          <a:latin typeface="Aptos"/>
                        </a:rPr>
                        <a:t>20.28</a:t>
                      </a:r>
                    </a:p>
                  </a:txBody>
                  <a:tcPr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sz="1300">
                          <a:solidFill>
                            <a:srgbClr val="20252A"/>
                          </a:solidFill>
                          <a:latin typeface="Aptos"/>
                        </a:rPr>
                        <a:t>1.594</a:t>
                      </a:r>
                    </a:p>
                  </a:txBody>
                  <a:tcPr>
                    <a:solidFill>
                      <a:srgbClr val="FFFFFF"/>
                    </a:solidFill>
                  </a:tcPr>
                </a:tc>
              </a:tr>
              <a:tr h="402336">
                <a:tc>
                  <a:txBody>
                    <a:bodyPr/>
                    <a:lstStyle/>
                    <a:p>
                      <a:pPr algn="ctr"/>
                      <a:r>
                        <a:rPr sz="1300">
                          <a:solidFill>
                            <a:srgbClr val="20252A"/>
                          </a:solidFill>
                          <a:latin typeface="Aptos"/>
                        </a:rPr>
                        <a:t>Cross-attn</a:t>
                      </a:r>
                    </a:p>
                  </a:txBody>
                  <a:tcPr>
                    <a:solidFill>
                      <a:srgbClr val="F1F4F7"/>
                    </a:solidFill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sz="1300">
                          <a:solidFill>
                            <a:srgbClr val="20252A"/>
                          </a:solidFill>
                          <a:latin typeface="Aptos"/>
                        </a:rPr>
                        <a:t>20.86</a:t>
                      </a:r>
                    </a:p>
                  </a:txBody>
                  <a:tcPr>
                    <a:solidFill>
                      <a:srgbClr val="F1F4F7"/>
                    </a:solidFill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sz="1300">
                          <a:solidFill>
                            <a:srgbClr val="20252A"/>
                          </a:solidFill>
                          <a:latin typeface="Aptos"/>
                        </a:rPr>
                        <a:t>1.742</a:t>
                      </a:r>
                    </a:p>
                  </a:txBody>
                  <a:tcPr>
                    <a:solidFill>
                      <a:srgbClr val="F1F4F7"/>
                    </a:solidFill>
                  </a:tcPr>
                </a:tc>
              </a:tr>
              <a:tr h="402336">
                <a:tc>
                  <a:txBody>
                    <a:bodyPr/>
                    <a:lstStyle/>
                    <a:p>
                      <a:pPr algn="ctr"/>
                      <a:r>
                        <a:rPr sz="1300">
                          <a:solidFill>
                            <a:srgbClr val="20252A"/>
                          </a:solidFill>
                          <a:latin typeface="Aptos"/>
                        </a:rPr>
                        <a:t>CFM</a:t>
                      </a:r>
                    </a:p>
                  </a:txBody>
                  <a:tcPr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sz="1300">
                          <a:solidFill>
                            <a:srgbClr val="20252A"/>
                          </a:solidFill>
                          <a:latin typeface="Aptos"/>
                        </a:rPr>
                        <a:t>21.16</a:t>
                      </a:r>
                    </a:p>
                  </a:txBody>
                  <a:tcPr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sz="1300">
                          <a:solidFill>
                            <a:srgbClr val="20252A"/>
                          </a:solidFill>
                          <a:latin typeface="Aptos"/>
                        </a:rPr>
                        <a:t>1.602</a:t>
                      </a:r>
                    </a:p>
                  </a:txBody>
                  <a:tcPr>
                    <a:solidFill>
                      <a:srgbClr val="FFFFFF"/>
                    </a:solidFill>
                  </a:tcPr>
                </a:tc>
              </a:tr>
              <a:tr h="402336">
                <a:tc>
                  <a:txBody>
                    <a:bodyPr/>
                    <a:lstStyle/>
                    <a:p>
                      <a:pPr algn="ctr"/>
                      <a:r>
                        <a:rPr sz="1300">
                          <a:solidFill>
                            <a:srgbClr val="20252A"/>
                          </a:solidFill>
                          <a:latin typeface="Aptos"/>
                        </a:rPr>
                        <a:t>FiLM</a:t>
                      </a:r>
                    </a:p>
                  </a:txBody>
                  <a:tcPr>
                    <a:solidFill>
                      <a:srgbClr val="F1F4F7"/>
                    </a:solidFill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sz="1300">
                          <a:solidFill>
                            <a:srgbClr val="20252A"/>
                          </a:solidFill>
                          <a:latin typeface="Aptos"/>
                        </a:rPr>
                        <a:t>23.60</a:t>
                      </a:r>
                    </a:p>
                  </a:txBody>
                  <a:tcPr>
                    <a:solidFill>
                      <a:srgbClr val="F1F4F7"/>
                    </a:solidFill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sz="1300">
                          <a:solidFill>
                            <a:srgbClr val="20252A"/>
                          </a:solidFill>
                          <a:latin typeface="Aptos"/>
                        </a:rPr>
                        <a:t>1.669</a:t>
                      </a:r>
                    </a:p>
                  </a:txBody>
                  <a:tcPr>
                    <a:solidFill>
                      <a:srgbClr val="F1F4F7"/>
                    </a:solidFill>
                  </a:tcPr>
                </a:tc>
              </a:tr>
            </a:tbl>
          </a:graphicData>
        </a:graphic>
      </p:graphicFrame>
      <p:sp>
        <p:nvSpPr>
          <p:cNvPr id="4" name="Rounded Rectangle 3"/>
          <p:cNvSpPr/>
          <p:nvPr/>
        </p:nvSpPr>
        <p:spPr>
          <a:xfrm>
            <a:off x="6400800" y="1234440"/>
            <a:ext cx="4297680" cy="822960"/>
          </a:xfrm>
          <a:prstGeom prst="roundRect">
            <a:avLst/>
          </a:prstGeom>
          <a:solidFill>
            <a:srgbClr val="F9E0DC"/>
          </a:solidFill>
          <a:ln w="13970">
            <a:solidFill>
              <a:srgbClr val="BE4B49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lIns="73152" rIns="73152" tIns="54864" bIns="54864"/>
          <a:lstStyle/>
          <a:p>
            <a:pPr algn="ctr"/>
            <a:r>
              <a:rPr sz="1300" b="1">
                <a:solidFill>
                  <a:srgbClr val="20252A"/>
                </a:solidFill>
                <a:latin typeface="Aptos"/>
              </a:rPr>
              <a:t>Legacy UCE interpolated both endpoint embeddings</a:t>
            </a:r>
          </a:p>
        </p:txBody>
      </p:sp>
      <p:sp>
        <p:nvSpPr>
          <p:cNvPr id="5" name="Rounded Rectangle 4"/>
          <p:cNvSpPr/>
          <p:nvPr/>
        </p:nvSpPr>
        <p:spPr>
          <a:xfrm>
            <a:off x="6400800" y="2423160"/>
            <a:ext cx="4297680" cy="914400"/>
          </a:xfrm>
          <a:prstGeom prst="roundRect">
            <a:avLst/>
          </a:prstGeom>
          <a:solidFill>
            <a:srgbClr val="FFFFFF"/>
          </a:solidFill>
          <a:ln w="13970">
            <a:solidFill>
              <a:srgbClr val="705DB4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lIns="73152" rIns="73152" tIns="54864" bIns="54864"/>
          <a:lstStyle/>
          <a:p>
            <a:pPr algn="ctr"/>
            <a:r>
              <a:rPr sz="1300" b="1">
                <a:solidFill>
                  <a:srgbClr val="20252A"/>
                </a:solidFill>
                <a:latin typeface="Aptos"/>
              </a:rPr>
              <a:t>Cross-attention can query UCE context differently for each gene's CRE tokens</a:t>
            </a:r>
          </a:p>
        </p:txBody>
      </p:sp>
      <p:sp>
        <p:nvSpPr>
          <p:cNvPr id="6" name="Rounded Rectangle 5"/>
          <p:cNvSpPr/>
          <p:nvPr/>
        </p:nvSpPr>
        <p:spPr>
          <a:xfrm>
            <a:off x="6400800" y="3703320"/>
            <a:ext cx="4297680" cy="914400"/>
          </a:xfrm>
          <a:prstGeom prst="roundRect">
            <a:avLst/>
          </a:prstGeom>
          <a:solidFill>
            <a:srgbClr val="FFFFFF"/>
          </a:solidFill>
          <a:ln w="13970">
            <a:solidFill>
              <a:srgbClr val="3165A3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lIns="73152" rIns="73152" tIns="54864" bIns="54864"/>
          <a:lstStyle/>
          <a:p>
            <a:pPr algn="ctr"/>
            <a:r>
              <a:rPr sz="1300" b="1">
                <a:solidFill>
                  <a:srgbClr val="20252A"/>
                </a:solidFill>
                <a:latin typeface="Aptos"/>
              </a:rPr>
              <a:t>Expression-state CFM remains a strong baseline, so sequence conditioning must beat a high bar</a:t>
            </a:r>
          </a:p>
        </p:txBody>
      </p:sp>
      <p:sp>
        <p:nvSpPr>
          <p:cNvPr id="7" name="Rectangle 6"/>
          <p:cNvSpPr/>
          <p:nvPr/>
        </p:nvSpPr>
        <p:spPr>
          <a:xfrm>
            <a:off x="1097280" y="4251960"/>
            <a:ext cx="2377440" cy="1005840"/>
          </a:xfrm>
          <a:prstGeom prst="rect">
            <a:avLst/>
          </a:prstGeom>
          <a:solidFill>
            <a:srgbClr val="E0F1E5"/>
          </a:solidFill>
          <a:ln w="13970">
            <a:solidFill>
              <a:srgbClr val="D2D8DE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lIns="73152" rIns="73152" tIns="54864" bIns="54864"/>
          <a:lstStyle/>
          <a:p>
            <a:pPr algn="ctr"/>
            <a:r>
              <a:rPr sz="1300" b="0">
                <a:solidFill>
                  <a:srgbClr val="20252A"/>
                </a:solidFill>
                <a:latin typeface="Aptos"/>
              </a:rPr>
              <a:t/>
            </a:r>
          </a:p>
        </p:txBody>
      </p:sp>
      <p:sp>
        <p:nvSpPr>
          <p:cNvPr id="8" name="TextBox 7"/>
          <p:cNvSpPr txBox="1"/>
          <p:nvPr/>
        </p:nvSpPr>
        <p:spPr>
          <a:xfrm>
            <a:off x="1152144" y="4379976"/>
            <a:ext cx="2267712" cy="329184"/>
          </a:xfrm>
          <a:prstGeom prst="rect">
            <a:avLst/>
          </a:prstGeom>
          <a:noFill/>
        </p:spPr>
        <p:txBody>
          <a:bodyPr wrap="none" lIns="36576" rIns="36576" tIns="18288" bIns="18288" anchor="t">
            <a:spAutoFit/>
          </a:bodyPr>
          <a:lstStyle/>
          <a:p>
            <a:pPr algn="ctr"/>
            <a:r>
              <a:rPr sz="2300" b="1">
                <a:solidFill>
                  <a:srgbClr val="20252A"/>
                </a:solidFill>
                <a:latin typeface="Aptos"/>
              </a:rPr>
              <a:t>20.28</a:t>
            </a:r>
          </a:p>
        </p:txBody>
      </p:sp>
      <p:sp>
        <p:nvSpPr>
          <p:cNvPr id="9" name="TextBox 8"/>
          <p:cNvSpPr txBox="1"/>
          <p:nvPr/>
        </p:nvSpPr>
        <p:spPr>
          <a:xfrm>
            <a:off x="1170432" y="4782312"/>
            <a:ext cx="2231136" cy="365760"/>
          </a:xfrm>
          <a:prstGeom prst="rect">
            <a:avLst/>
          </a:prstGeom>
          <a:noFill/>
        </p:spPr>
        <p:txBody>
          <a:bodyPr wrap="none" lIns="36576" rIns="36576" tIns="18288" bIns="18288" anchor="t">
            <a:spAutoFit/>
          </a:bodyPr>
          <a:lstStyle/>
          <a:p>
            <a:pPr algn="ctr"/>
            <a:r>
              <a:rPr sz="1000" b="0">
                <a:solidFill>
                  <a:srgbClr val="5C6773"/>
                </a:solidFill>
                <a:latin typeface="Aptos"/>
              </a:rPr>
              <a:t>best full-panel MSE</a:t>
            </a:r>
          </a:p>
        </p:txBody>
      </p:sp>
      <p:sp>
        <p:nvSpPr>
          <p:cNvPr id="10" name="Rectangle 9"/>
          <p:cNvSpPr/>
          <p:nvPr/>
        </p:nvSpPr>
        <p:spPr>
          <a:xfrm>
            <a:off x="3703320" y="4251960"/>
            <a:ext cx="2377440" cy="1005840"/>
          </a:xfrm>
          <a:prstGeom prst="rect">
            <a:avLst/>
          </a:prstGeom>
          <a:solidFill>
            <a:srgbClr val="E0F1E5"/>
          </a:solidFill>
          <a:ln w="13970">
            <a:solidFill>
              <a:srgbClr val="D2D8DE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lIns="73152" rIns="73152" tIns="54864" bIns="54864"/>
          <a:lstStyle/>
          <a:p>
            <a:pPr algn="ctr"/>
            <a:r>
              <a:rPr sz="1300" b="0">
                <a:solidFill>
                  <a:srgbClr val="20252A"/>
                </a:solidFill>
                <a:latin typeface="Aptos"/>
              </a:rPr>
              <a:t/>
            </a:r>
          </a:p>
        </p:txBody>
      </p:sp>
      <p:sp>
        <p:nvSpPr>
          <p:cNvPr id="11" name="TextBox 10"/>
          <p:cNvSpPr txBox="1"/>
          <p:nvPr/>
        </p:nvSpPr>
        <p:spPr>
          <a:xfrm>
            <a:off x="3758183" y="4379976"/>
            <a:ext cx="2267712" cy="329184"/>
          </a:xfrm>
          <a:prstGeom prst="rect">
            <a:avLst/>
          </a:prstGeom>
          <a:noFill/>
        </p:spPr>
        <p:txBody>
          <a:bodyPr wrap="none" lIns="36576" rIns="36576" tIns="18288" bIns="18288" anchor="t">
            <a:spAutoFit/>
          </a:bodyPr>
          <a:lstStyle/>
          <a:p>
            <a:pPr algn="ctr"/>
            <a:r>
              <a:rPr sz="2300" b="1">
                <a:solidFill>
                  <a:srgbClr val="20252A"/>
                </a:solidFill>
                <a:latin typeface="Aptos"/>
              </a:rPr>
              <a:t>1.594</a:t>
            </a:r>
          </a:p>
        </p:txBody>
      </p:sp>
      <p:sp>
        <p:nvSpPr>
          <p:cNvPr id="12" name="TextBox 11"/>
          <p:cNvSpPr txBox="1"/>
          <p:nvPr/>
        </p:nvSpPr>
        <p:spPr>
          <a:xfrm>
            <a:off x="3776472" y="4782312"/>
            <a:ext cx="2231136" cy="365760"/>
          </a:xfrm>
          <a:prstGeom prst="rect">
            <a:avLst/>
          </a:prstGeom>
          <a:noFill/>
        </p:spPr>
        <p:txBody>
          <a:bodyPr wrap="none" lIns="36576" rIns="36576" tIns="18288" bIns="18288" anchor="t">
            <a:spAutoFit/>
          </a:bodyPr>
          <a:lstStyle/>
          <a:p>
            <a:pPr algn="ctr"/>
            <a:r>
              <a:rPr sz="1000" b="0">
                <a:solidFill>
                  <a:srgbClr val="5C6773"/>
                </a:solidFill>
                <a:latin typeface="Aptos"/>
              </a:rPr>
              <a:t>best full-panel MAE</a:t>
            </a:r>
          </a:p>
        </p:txBody>
      </p:sp>
    </p:spTree>
  </p:cSld>
  <p:clrMapOvr>
    <a:masterClrMapping/>
  </p:clrMapOvr>
</p:sld>
</file>

<file path=ppt/slides/slide10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F8F9FA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2" name="TextBox 1"/>
          <p:cNvSpPr txBox="1"/>
          <p:nvPr/>
        </p:nvSpPr>
        <p:spPr>
          <a:xfrm>
            <a:off x="502920" y="237744"/>
            <a:ext cx="11155680" cy="438912"/>
          </a:xfrm>
          <a:prstGeom prst="rect">
            <a:avLst/>
          </a:prstGeom>
          <a:noFill/>
        </p:spPr>
        <p:txBody>
          <a:bodyPr wrap="none" lIns="36576" rIns="36576" tIns="18288" bIns="18288" anchor="t">
            <a:spAutoFit/>
          </a:bodyPr>
          <a:lstStyle/>
          <a:p>
            <a:pPr algn="l"/>
            <a:r>
              <a:rPr sz="2500" b="1">
                <a:solidFill>
                  <a:srgbClr val="20252A"/>
                </a:solidFill>
                <a:latin typeface="Aptos"/>
              </a:rPr>
              <a:t>Cross-species transfer swaps the genome and cell-state vocabulary, not the training objective</a:t>
            </a:r>
          </a:p>
        </p:txBody>
      </p:sp>
      <p:sp>
        <p:nvSpPr>
          <p:cNvPr id="3" name="Rounded Rectangle 2"/>
          <p:cNvSpPr/>
          <p:nvPr/>
        </p:nvSpPr>
        <p:spPr>
          <a:xfrm>
            <a:off x="777240" y="1325880"/>
            <a:ext cx="2011680" cy="868680"/>
          </a:xfrm>
          <a:prstGeom prst="roundRect">
            <a:avLst/>
          </a:prstGeom>
          <a:solidFill>
            <a:srgbClr val="E1EBF7"/>
          </a:solidFill>
          <a:ln w="13970">
            <a:solidFill>
              <a:srgbClr val="3165A3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lIns="73152" rIns="73152" tIns="54864" bIns="54864"/>
          <a:lstStyle/>
          <a:p>
            <a:pPr algn="ctr"/>
            <a:r>
              <a:rPr sz="1300" b="1">
                <a:solidFill>
                  <a:srgbClr val="20252A"/>
                </a:solidFill>
                <a:latin typeface="Aptos"/>
              </a:rPr>
              <a:t>mouse 10k
UCE cross-attn</a:t>
            </a:r>
          </a:p>
        </p:txBody>
      </p:sp>
      <p:sp>
        <p:nvSpPr>
          <p:cNvPr id="4" name="Rounded Rectangle 3"/>
          <p:cNvSpPr/>
          <p:nvPr/>
        </p:nvSpPr>
        <p:spPr>
          <a:xfrm>
            <a:off x="3246120" y="1325880"/>
            <a:ext cx="1645920" cy="868680"/>
          </a:xfrm>
          <a:prstGeom prst="roundRect">
            <a:avLst/>
          </a:prstGeom>
          <a:solidFill>
            <a:srgbClr val="FFFFFF"/>
          </a:solidFill>
          <a:ln w="13970">
            <a:solidFill>
              <a:srgbClr val="3165A3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lIns="73152" rIns="73152" tIns="54864" bIns="54864"/>
          <a:lstStyle/>
          <a:p>
            <a:pPr algn="ctr"/>
            <a:r>
              <a:rPr sz="1300" b="1">
                <a:solidFill>
                  <a:srgbClr val="20252A"/>
                </a:solidFill>
                <a:latin typeface="Aptos"/>
              </a:rPr>
              <a:t>source checkpoint</a:t>
            </a:r>
          </a:p>
        </p:txBody>
      </p:sp>
      <p:sp>
        <p:nvSpPr>
          <p:cNvPr id="5" name="Rounded Rectangle 4"/>
          <p:cNvSpPr/>
          <p:nvPr/>
        </p:nvSpPr>
        <p:spPr>
          <a:xfrm>
            <a:off x="777240" y="3063240"/>
            <a:ext cx="2011680" cy="868680"/>
          </a:xfrm>
          <a:prstGeom prst="roundRect">
            <a:avLst/>
          </a:prstGeom>
          <a:solidFill>
            <a:srgbClr val="E0F1E5"/>
          </a:solidFill>
          <a:ln w="13970">
            <a:solidFill>
              <a:srgbClr val="539A5D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lIns="73152" rIns="73152" tIns="54864" bIns="54864"/>
          <a:lstStyle/>
          <a:p>
            <a:pPr algn="ctr"/>
            <a:r>
              <a:rPr sz="1300" b="1">
                <a:solidFill>
                  <a:srgbClr val="20252A"/>
                </a:solidFill>
                <a:latin typeface="Aptos"/>
              </a:rPr>
              <a:t>zebrafish UCE
cell states</a:t>
            </a:r>
          </a:p>
        </p:txBody>
      </p:sp>
      <p:sp>
        <p:nvSpPr>
          <p:cNvPr id="6" name="Rounded Rectangle 5"/>
          <p:cNvSpPr/>
          <p:nvPr/>
        </p:nvSpPr>
        <p:spPr>
          <a:xfrm>
            <a:off x="3246120" y="3063240"/>
            <a:ext cx="1645920" cy="868680"/>
          </a:xfrm>
          <a:prstGeom prst="roundRect">
            <a:avLst/>
          </a:prstGeom>
          <a:solidFill>
            <a:srgbClr val="F9EECF"/>
          </a:solidFill>
          <a:ln w="13970">
            <a:solidFill>
              <a:srgbClr val="D69E2E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lIns="73152" rIns="73152" tIns="54864" bIns="54864"/>
          <a:lstStyle/>
          <a:p>
            <a:pPr algn="ctr"/>
            <a:r>
              <a:rPr sz="1300" b="1">
                <a:solidFill>
                  <a:srgbClr val="20252A"/>
                </a:solidFill>
                <a:latin typeface="Aptos"/>
              </a:rPr>
              <a:t>zebrafish cCRE
sequence tokens</a:t>
            </a:r>
          </a:p>
        </p:txBody>
      </p:sp>
      <p:sp>
        <p:nvSpPr>
          <p:cNvPr id="7" name="Rounded Rectangle 6"/>
          <p:cNvSpPr/>
          <p:nvPr/>
        </p:nvSpPr>
        <p:spPr>
          <a:xfrm>
            <a:off x="5486400" y="960120"/>
            <a:ext cx="1554480" cy="640080"/>
          </a:xfrm>
          <a:prstGeom prst="roundRect">
            <a:avLst/>
          </a:prstGeom>
          <a:solidFill>
            <a:srgbClr val="F9EECF"/>
          </a:solidFill>
          <a:ln w="13970">
            <a:solidFill>
              <a:srgbClr val="D69E2E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lIns="73152" rIns="73152" tIns="54864" bIns="54864"/>
          <a:lstStyle/>
          <a:p>
            <a:pPr algn="ctr"/>
            <a:r>
              <a:rPr sz="1300" b="1">
                <a:solidFill>
                  <a:srgbClr val="20252A"/>
                </a:solidFill>
                <a:latin typeface="Aptos"/>
              </a:rPr>
              <a:t>zero-shot</a:t>
            </a:r>
          </a:p>
        </p:txBody>
      </p:sp>
      <p:sp>
        <p:nvSpPr>
          <p:cNvPr id="8" name="Rounded Rectangle 7"/>
          <p:cNvSpPr/>
          <p:nvPr/>
        </p:nvSpPr>
        <p:spPr>
          <a:xfrm>
            <a:off x="5486400" y="1965960"/>
            <a:ext cx="1554480" cy="640080"/>
          </a:xfrm>
          <a:prstGeom prst="roundRect">
            <a:avLst/>
          </a:prstGeom>
          <a:solidFill>
            <a:srgbClr val="E0F1E5"/>
          </a:solidFill>
          <a:ln w="13970">
            <a:solidFill>
              <a:srgbClr val="539A5D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lIns="73152" rIns="73152" tIns="54864" bIns="54864"/>
          <a:lstStyle/>
          <a:p>
            <a:pPr algn="ctr"/>
            <a:r>
              <a:rPr sz="1300" b="1">
                <a:solidFill>
                  <a:srgbClr val="20252A"/>
                </a:solidFill>
                <a:latin typeface="Aptos"/>
              </a:rPr>
              <a:t>fine-tuned</a:t>
            </a:r>
          </a:p>
        </p:txBody>
      </p:sp>
      <p:sp>
        <p:nvSpPr>
          <p:cNvPr id="9" name="Rounded Rectangle 8"/>
          <p:cNvSpPr/>
          <p:nvPr/>
        </p:nvSpPr>
        <p:spPr>
          <a:xfrm>
            <a:off x="5486400" y="2971800"/>
            <a:ext cx="1554480" cy="640080"/>
          </a:xfrm>
          <a:prstGeom prst="roundRect">
            <a:avLst/>
          </a:prstGeom>
          <a:solidFill>
            <a:srgbClr val="E1EBF7"/>
          </a:solidFill>
          <a:ln w="13970">
            <a:solidFill>
              <a:srgbClr val="3165A3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lIns="73152" rIns="73152" tIns="54864" bIns="54864"/>
          <a:lstStyle/>
          <a:p>
            <a:pPr algn="ctr"/>
            <a:r>
              <a:rPr sz="1300" b="1">
                <a:solidFill>
                  <a:srgbClr val="20252A"/>
                </a:solidFill>
                <a:latin typeface="Aptos"/>
              </a:rPr>
              <a:t>zebrafish only</a:t>
            </a:r>
          </a:p>
        </p:txBody>
      </p:sp>
      <p:sp>
        <p:nvSpPr>
          <p:cNvPr id="10" name="Rounded Rectangle 9"/>
          <p:cNvSpPr/>
          <p:nvPr/>
        </p:nvSpPr>
        <p:spPr>
          <a:xfrm>
            <a:off x="7635240" y="2240280"/>
            <a:ext cx="3017520" cy="960120"/>
          </a:xfrm>
          <a:prstGeom prst="roundRect">
            <a:avLst/>
          </a:prstGeom>
          <a:solidFill>
            <a:srgbClr val="FFFFFF"/>
          </a:solidFill>
          <a:ln w="13970">
            <a:solidFill>
              <a:srgbClr val="BE4B49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lIns="73152" rIns="73152" tIns="54864" bIns="54864"/>
          <a:lstStyle/>
          <a:p>
            <a:pPr algn="ctr"/>
            <a:r>
              <a:rPr sz="1300" b="1">
                <a:solidFill>
                  <a:srgbClr val="20252A"/>
                </a:solidFill>
                <a:latin typeface="Aptos"/>
              </a:rPr>
              <a:t>held-out 36 and 72 hpf
expression displacement</a:t>
            </a:r>
          </a:p>
        </p:txBody>
      </p:sp>
      <p:cxnSp>
        <p:nvCxnSpPr>
          <p:cNvPr id="11" name="Connector 10"/>
          <p:cNvCxnSpPr/>
          <p:nvPr/>
        </p:nvCxnSpPr>
        <p:spPr>
          <a:xfrm>
            <a:off x="2788920" y="1755648"/>
            <a:ext cx="457200" cy="0"/>
          </a:xfrm>
          <a:prstGeom prst="line">
            <a:avLst/>
          </a:prstGeom>
          <a:ln w="25400">
            <a:solidFill>
              <a:srgbClr val="5C6773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12" name="Connector 11"/>
          <p:cNvCxnSpPr/>
          <p:nvPr/>
        </p:nvCxnSpPr>
        <p:spPr>
          <a:xfrm flipV="1">
            <a:off x="4892040" y="1280160"/>
            <a:ext cx="594360" cy="475488"/>
          </a:xfrm>
          <a:prstGeom prst="line">
            <a:avLst/>
          </a:prstGeom>
          <a:ln w="25400">
            <a:solidFill>
              <a:srgbClr val="5C6773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13" name="Connector 12"/>
          <p:cNvCxnSpPr/>
          <p:nvPr/>
        </p:nvCxnSpPr>
        <p:spPr>
          <a:xfrm flipV="1">
            <a:off x="4892040" y="2286000"/>
            <a:ext cx="594360" cy="1207008"/>
          </a:xfrm>
          <a:prstGeom prst="line">
            <a:avLst/>
          </a:prstGeom>
          <a:ln w="25400">
            <a:solidFill>
              <a:srgbClr val="5C6773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14" name="Connector 13"/>
          <p:cNvCxnSpPr/>
          <p:nvPr/>
        </p:nvCxnSpPr>
        <p:spPr>
          <a:xfrm flipV="1">
            <a:off x="4892040" y="3291840"/>
            <a:ext cx="594360" cy="201168"/>
          </a:xfrm>
          <a:prstGeom prst="line">
            <a:avLst/>
          </a:prstGeom>
          <a:ln w="25400">
            <a:solidFill>
              <a:srgbClr val="5C6773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15" name="Connector 14"/>
          <p:cNvCxnSpPr/>
          <p:nvPr/>
        </p:nvCxnSpPr>
        <p:spPr>
          <a:xfrm>
            <a:off x="7040880" y="2331720"/>
            <a:ext cx="594360" cy="365760"/>
          </a:xfrm>
          <a:prstGeom prst="line">
            <a:avLst/>
          </a:prstGeom>
          <a:ln w="25400">
            <a:solidFill>
              <a:srgbClr val="5C6773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sp>
        <p:nvSpPr>
          <p:cNvPr id="16" name="TextBox 15"/>
          <p:cNvSpPr txBox="1"/>
          <p:nvPr/>
        </p:nvSpPr>
        <p:spPr>
          <a:xfrm>
            <a:off x="1005840" y="5212080"/>
            <a:ext cx="9966960" cy="411480"/>
          </a:xfrm>
          <a:prstGeom prst="rect">
            <a:avLst/>
          </a:prstGeom>
          <a:noFill/>
        </p:spPr>
        <p:txBody>
          <a:bodyPr wrap="none" lIns="36576" rIns="36576" tIns="18288" bIns="18288" anchor="t">
            <a:spAutoFit/>
          </a:bodyPr>
          <a:lstStyle/>
          <a:p>
            <a:pPr algn="ctr"/>
            <a:r>
              <a:rPr sz="1500" b="1">
                <a:solidFill>
                  <a:srgbClr val="20252A"/>
                </a:solidFill>
                <a:latin typeface="Aptos"/>
              </a:rPr>
              <a:t>Two time conventions are evaluated: physical days and organism-relative [0,1] time.</a:t>
            </a:r>
          </a:p>
        </p:txBody>
      </p:sp>
    </p:spTree>
  </p:cSld>
  <p:clrMapOvr>
    <a:masterClrMapping/>
  </p:clrMapOvr>
</p:sld>
</file>

<file path=ppt/slides/slide11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F8F9FA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2" name="TextBox 1"/>
          <p:cNvSpPr txBox="1"/>
          <p:nvPr/>
        </p:nvSpPr>
        <p:spPr>
          <a:xfrm>
            <a:off x="502920" y="237744"/>
            <a:ext cx="11155680" cy="438912"/>
          </a:xfrm>
          <a:prstGeom prst="rect">
            <a:avLst/>
          </a:prstGeom>
          <a:noFill/>
        </p:spPr>
        <p:txBody>
          <a:bodyPr wrap="none" lIns="36576" rIns="36576" tIns="18288" bIns="18288" anchor="t">
            <a:spAutoFit/>
          </a:bodyPr>
          <a:lstStyle/>
          <a:p>
            <a:pPr algn="l"/>
            <a:r>
              <a:rPr sz="2500" b="1">
                <a:solidFill>
                  <a:srgbClr val="20252A"/>
                </a:solidFill>
                <a:latin typeface="Aptos"/>
              </a:rPr>
              <a:t>Zebrafish transfer results are conditional-fit diagnostics pending causal rollout</a:t>
            </a:r>
          </a:p>
        </p:txBody>
      </p:sp>
      <p:pic>
        <p:nvPicPr>
          <p:cNvPr id="3" name="Picture 2" descr="zfish_transfer.png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777240" y="1195753"/>
            <a:ext cx="7863840" cy="3780692"/>
          </a:xfrm>
          <a:prstGeom prst="rect">
            <a:avLst/>
          </a:prstGeom>
        </p:spPr>
      </p:pic>
      <p:sp>
        <p:nvSpPr>
          <p:cNvPr id="4" name="Rectangle 3"/>
          <p:cNvSpPr/>
          <p:nvPr/>
        </p:nvSpPr>
        <p:spPr>
          <a:xfrm>
            <a:off x="8961120" y="1234440"/>
            <a:ext cx="2103120" cy="868680"/>
          </a:xfrm>
          <a:prstGeom prst="rect">
            <a:avLst/>
          </a:prstGeom>
          <a:solidFill>
            <a:srgbClr val="E0F1E5"/>
          </a:solidFill>
          <a:ln w="13970">
            <a:solidFill>
              <a:srgbClr val="D2D8DE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lIns="73152" rIns="73152" tIns="54864" bIns="54864"/>
          <a:lstStyle/>
          <a:p>
            <a:pPr algn="ctr"/>
            <a:r>
              <a:rPr sz="1300" b="0">
                <a:solidFill>
                  <a:srgbClr val="20252A"/>
                </a:solidFill>
                <a:latin typeface="Aptos"/>
              </a:rPr>
              <a:t/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9015984" y="1362456"/>
            <a:ext cx="1993391" cy="329184"/>
          </a:xfrm>
          <a:prstGeom prst="rect">
            <a:avLst/>
          </a:prstGeom>
          <a:noFill/>
        </p:spPr>
        <p:txBody>
          <a:bodyPr wrap="none" lIns="36576" rIns="36576" tIns="18288" bIns="18288" anchor="t">
            <a:spAutoFit/>
          </a:bodyPr>
          <a:lstStyle/>
          <a:p>
            <a:pPr algn="ctr"/>
            <a:r>
              <a:rPr sz="2300" b="1">
                <a:solidFill>
                  <a:srgbClr val="20252A"/>
                </a:solidFill>
                <a:latin typeface="Aptos"/>
              </a:rPr>
              <a:t>0.131</a:t>
            </a:r>
          </a:p>
        </p:txBody>
      </p:sp>
      <p:sp>
        <p:nvSpPr>
          <p:cNvPr id="6" name="TextBox 5"/>
          <p:cNvSpPr txBox="1"/>
          <p:nvPr/>
        </p:nvSpPr>
        <p:spPr>
          <a:xfrm>
            <a:off x="9034272" y="1764792"/>
            <a:ext cx="1956815" cy="365760"/>
          </a:xfrm>
          <a:prstGeom prst="rect">
            <a:avLst/>
          </a:prstGeom>
          <a:noFill/>
        </p:spPr>
        <p:txBody>
          <a:bodyPr wrap="none" lIns="36576" rIns="36576" tIns="18288" bIns="18288" anchor="t">
            <a:spAutoFit/>
          </a:bodyPr>
          <a:lstStyle/>
          <a:p>
            <a:pPr algn="ctr"/>
            <a:r>
              <a:rPr sz="1000" b="0">
                <a:solidFill>
                  <a:srgbClr val="5C6773"/>
                </a:solidFill>
                <a:latin typeface="Aptos"/>
              </a:rPr>
              <a:t>relative fine-tuned</a:t>
            </a:r>
          </a:p>
        </p:txBody>
      </p:sp>
      <p:sp>
        <p:nvSpPr>
          <p:cNvPr id="7" name="Rectangle 6"/>
          <p:cNvSpPr/>
          <p:nvPr/>
        </p:nvSpPr>
        <p:spPr>
          <a:xfrm>
            <a:off x="8961120" y="2468880"/>
            <a:ext cx="2103120" cy="868680"/>
          </a:xfrm>
          <a:prstGeom prst="rect">
            <a:avLst/>
          </a:prstGeom>
          <a:solidFill>
            <a:srgbClr val="E1EBF7"/>
          </a:solidFill>
          <a:ln w="13970">
            <a:solidFill>
              <a:srgbClr val="D2D8DE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lIns="73152" rIns="73152" tIns="54864" bIns="54864"/>
          <a:lstStyle/>
          <a:p>
            <a:pPr algn="ctr"/>
            <a:r>
              <a:rPr sz="1300" b="0">
                <a:solidFill>
                  <a:srgbClr val="20252A"/>
                </a:solidFill>
                <a:latin typeface="Aptos"/>
              </a:rPr>
              <a:t/>
            </a:r>
          </a:p>
        </p:txBody>
      </p:sp>
      <p:sp>
        <p:nvSpPr>
          <p:cNvPr id="8" name="TextBox 7"/>
          <p:cNvSpPr txBox="1"/>
          <p:nvPr/>
        </p:nvSpPr>
        <p:spPr>
          <a:xfrm>
            <a:off x="9015984" y="2596896"/>
            <a:ext cx="1993391" cy="329184"/>
          </a:xfrm>
          <a:prstGeom prst="rect">
            <a:avLst/>
          </a:prstGeom>
          <a:noFill/>
        </p:spPr>
        <p:txBody>
          <a:bodyPr wrap="none" lIns="36576" rIns="36576" tIns="18288" bIns="18288" anchor="t">
            <a:spAutoFit/>
          </a:bodyPr>
          <a:lstStyle/>
          <a:p>
            <a:pPr algn="ctr"/>
            <a:r>
              <a:rPr sz="2300" b="1">
                <a:solidFill>
                  <a:srgbClr val="20252A"/>
                </a:solidFill>
                <a:latin typeface="Aptos"/>
              </a:rPr>
              <a:t>0.157</a:t>
            </a:r>
          </a:p>
        </p:txBody>
      </p:sp>
      <p:sp>
        <p:nvSpPr>
          <p:cNvPr id="9" name="TextBox 8"/>
          <p:cNvSpPr txBox="1"/>
          <p:nvPr/>
        </p:nvSpPr>
        <p:spPr>
          <a:xfrm>
            <a:off x="9034272" y="2999232"/>
            <a:ext cx="1956815" cy="365760"/>
          </a:xfrm>
          <a:prstGeom prst="rect">
            <a:avLst/>
          </a:prstGeom>
          <a:noFill/>
        </p:spPr>
        <p:txBody>
          <a:bodyPr wrap="none" lIns="36576" rIns="36576" tIns="18288" bIns="18288" anchor="t">
            <a:spAutoFit/>
          </a:bodyPr>
          <a:lstStyle/>
          <a:p>
            <a:pPr algn="ctr"/>
            <a:r>
              <a:rPr sz="1000" b="0">
                <a:solidFill>
                  <a:srgbClr val="5C6773"/>
                </a:solidFill>
                <a:latin typeface="Aptos"/>
              </a:rPr>
              <a:t>relative zebrafish only</a:t>
            </a:r>
          </a:p>
        </p:txBody>
      </p:sp>
      <p:sp>
        <p:nvSpPr>
          <p:cNvPr id="10" name="Rectangle 9"/>
          <p:cNvSpPr/>
          <p:nvPr/>
        </p:nvSpPr>
        <p:spPr>
          <a:xfrm>
            <a:off x="8961120" y="3703320"/>
            <a:ext cx="2103120" cy="868680"/>
          </a:xfrm>
          <a:prstGeom prst="rect">
            <a:avLst/>
          </a:prstGeom>
          <a:solidFill>
            <a:srgbClr val="F9EECF"/>
          </a:solidFill>
          <a:ln w="13970">
            <a:solidFill>
              <a:srgbClr val="D2D8DE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lIns="73152" rIns="73152" tIns="54864" bIns="54864"/>
          <a:lstStyle/>
          <a:p>
            <a:pPr algn="ctr"/>
            <a:r>
              <a:rPr sz="1300" b="0">
                <a:solidFill>
                  <a:srgbClr val="20252A"/>
                </a:solidFill>
                <a:latin typeface="Aptos"/>
              </a:rPr>
              <a:t/>
            </a:r>
          </a:p>
        </p:txBody>
      </p:sp>
      <p:sp>
        <p:nvSpPr>
          <p:cNvPr id="11" name="TextBox 10"/>
          <p:cNvSpPr txBox="1"/>
          <p:nvPr/>
        </p:nvSpPr>
        <p:spPr>
          <a:xfrm>
            <a:off x="9015984" y="3831335"/>
            <a:ext cx="1993391" cy="329184"/>
          </a:xfrm>
          <a:prstGeom prst="rect">
            <a:avLst/>
          </a:prstGeom>
          <a:noFill/>
        </p:spPr>
        <p:txBody>
          <a:bodyPr wrap="none" lIns="36576" rIns="36576" tIns="18288" bIns="18288" anchor="t">
            <a:spAutoFit/>
          </a:bodyPr>
          <a:lstStyle/>
          <a:p>
            <a:pPr algn="ctr"/>
            <a:r>
              <a:rPr sz="2300" b="1">
                <a:solidFill>
                  <a:srgbClr val="20252A"/>
                </a:solidFill>
                <a:latin typeface="Aptos"/>
              </a:rPr>
              <a:t>0.175</a:t>
            </a:r>
          </a:p>
        </p:txBody>
      </p:sp>
      <p:sp>
        <p:nvSpPr>
          <p:cNvPr id="12" name="TextBox 11"/>
          <p:cNvSpPr txBox="1"/>
          <p:nvPr/>
        </p:nvSpPr>
        <p:spPr>
          <a:xfrm>
            <a:off x="9034272" y="4233672"/>
            <a:ext cx="1956815" cy="365760"/>
          </a:xfrm>
          <a:prstGeom prst="rect">
            <a:avLst/>
          </a:prstGeom>
          <a:noFill/>
        </p:spPr>
        <p:txBody>
          <a:bodyPr wrap="none" lIns="36576" rIns="36576" tIns="18288" bIns="18288" anchor="t">
            <a:spAutoFit/>
          </a:bodyPr>
          <a:lstStyle/>
          <a:p>
            <a:pPr algn="ctr"/>
            <a:r>
              <a:rPr sz="1000" b="0">
                <a:solidFill>
                  <a:srgbClr val="5C6773"/>
                </a:solidFill>
                <a:latin typeface="Aptos"/>
              </a:rPr>
              <a:t>physical zero-shot</a:t>
            </a:r>
          </a:p>
        </p:txBody>
      </p:sp>
      <p:sp>
        <p:nvSpPr>
          <p:cNvPr id="13" name="TextBox 12"/>
          <p:cNvSpPr txBox="1"/>
          <p:nvPr/>
        </p:nvSpPr>
        <p:spPr>
          <a:xfrm>
            <a:off x="914400" y="5669280"/>
            <a:ext cx="10241280" cy="320040"/>
          </a:xfrm>
          <a:prstGeom prst="rect">
            <a:avLst/>
          </a:prstGeom>
          <a:noFill/>
        </p:spPr>
        <p:txBody>
          <a:bodyPr wrap="none" lIns="36576" rIns="36576" tIns="18288" bIns="18288" anchor="t">
            <a:spAutoFit/>
          </a:bodyPr>
          <a:lstStyle/>
          <a:p>
            <a:pPr algn="ctr"/>
            <a:r>
              <a:rPr sz="1200" b="0">
                <a:solidFill>
                  <a:srgbClr val="5C6773"/>
                </a:solidFill>
                <a:latin typeface="Aptos"/>
              </a:rPr>
              <a:t>Lower displacement MAE is better. Bars compare learned transfer and target-only regimes.</a:t>
            </a:r>
          </a:p>
        </p:txBody>
      </p:sp>
    </p:spTree>
  </p:cSld>
  <p:clrMapOvr>
    <a:masterClrMapping/>
  </p:clrMapOvr>
</p:sld>
</file>

<file path=ppt/slides/slide12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F8F9FA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2" name="TextBox 1"/>
          <p:cNvSpPr txBox="1"/>
          <p:nvPr/>
        </p:nvSpPr>
        <p:spPr>
          <a:xfrm>
            <a:off x="502920" y="237744"/>
            <a:ext cx="11155680" cy="438912"/>
          </a:xfrm>
          <a:prstGeom prst="rect">
            <a:avLst/>
          </a:prstGeom>
          <a:noFill/>
        </p:spPr>
        <p:txBody>
          <a:bodyPr wrap="none" lIns="36576" rIns="36576" tIns="18288" bIns="18288" anchor="t">
            <a:spAutoFit/>
          </a:bodyPr>
          <a:lstStyle/>
          <a:p>
            <a:pPr algn="l"/>
            <a:r>
              <a:rPr sz="2500" b="1">
                <a:solidFill>
                  <a:srgbClr val="20252A"/>
                </a:solidFill>
                <a:latin typeface="Aptos"/>
              </a:rPr>
              <a:t>Legacy cross-species conditional fit depends on time coordinate and training regime</a:t>
            </a:r>
          </a:p>
        </p:txBody>
      </p:sp>
      <p:graphicFrame>
        <p:nvGraphicFramePr>
          <p:cNvPr id="3" name="Table 2"/>
          <p:cNvGraphicFramePr>
            <a:graphicFrameLocks noGrp="1"/>
          </p:cNvGraphicFramePr>
          <p:nvPr/>
        </p:nvGraphicFramePr>
        <p:xfrm>
          <a:off x="685800" y="1051560"/>
          <a:ext cx="6858000" cy="3794760"/>
        </p:xfrm>
        <a:graphic>
          <a:graphicData uri="http://schemas.openxmlformats.org/drawingml/2006/table">
            <a:tbl>
              <a:tblPr firstRow="1" bandRow="1">
                <a:tableStyleId>{5C22544A-7EE6-4342-B048-85BDC9FD1C3A}</a:tableStyleId>
              </a:tblPr>
              <a:tblGrid>
                <a:gridCol w="1714500"/>
                <a:gridCol w="1714500"/>
                <a:gridCol w="1714500"/>
                <a:gridCol w="1714500"/>
              </a:tblGrid>
              <a:tr h="542108">
                <a:tc>
                  <a:txBody>
                    <a:bodyPr/>
                    <a:lstStyle/>
                    <a:p>
                      <a:pPr algn="ctr"/>
                      <a:r>
                        <a:rPr sz="1000" b="1">
                          <a:solidFill>
                            <a:srgbClr val="FFFFFF"/>
                          </a:solidFill>
                          <a:latin typeface="Aptos"/>
                        </a:rPr>
                        <a:t>Time</a:t>
                      </a:r>
                    </a:p>
                  </a:txBody>
                  <a:tcPr>
                    <a:solidFill>
                      <a:srgbClr val="3165A3"/>
                    </a:solidFill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sz="1000" b="1">
                          <a:solidFill>
                            <a:srgbClr val="FFFFFF"/>
                          </a:solidFill>
                          <a:latin typeface="Aptos"/>
                        </a:rPr>
                        <a:t>Regime</a:t>
                      </a:r>
                    </a:p>
                  </a:txBody>
                  <a:tcPr>
                    <a:solidFill>
                      <a:srgbClr val="3165A3"/>
                    </a:solidFill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sz="1000" b="1">
                          <a:solidFill>
                            <a:srgbClr val="FFFFFF"/>
                          </a:solidFill>
                          <a:latin typeface="Aptos"/>
                        </a:rPr>
                        <a:t>MAE</a:t>
                      </a:r>
                    </a:p>
                  </a:txBody>
                  <a:tcPr>
                    <a:solidFill>
                      <a:srgbClr val="3165A3"/>
                    </a:solidFill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sz="1000" b="1">
                          <a:solidFill>
                            <a:srgbClr val="FFFFFF"/>
                          </a:solidFill>
                          <a:latin typeface="Aptos"/>
                        </a:rPr>
                        <a:t>MSE</a:t>
                      </a:r>
                    </a:p>
                  </a:txBody>
                  <a:tcPr>
                    <a:solidFill>
                      <a:srgbClr val="3165A3"/>
                    </a:solidFill>
                  </a:tcPr>
                </a:tc>
              </a:tr>
              <a:tr h="542108">
                <a:tc>
                  <a:txBody>
                    <a:bodyPr/>
                    <a:lstStyle/>
                    <a:p>
                      <a:pPr algn="ctr"/>
                      <a:r>
                        <a:rPr sz="1000">
                          <a:solidFill>
                            <a:srgbClr val="20252A"/>
                          </a:solidFill>
                          <a:latin typeface="Aptos"/>
                        </a:rPr>
                        <a:t>Relative time</a:t>
                      </a:r>
                    </a:p>
                  </a:txBody>
                  <a:tcPr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sz="1000">
                          <a:solidFill>
                            <a:srgbClr val="20252A"/>
                          </a:solidFill>
                          <a:latin typeface="Aptos"/>
                        </a:rPr>
                        <a:t>Mouse zero-shot</a:t>
                      </a:r>
                    </a:p>
                  </a:txBody>
                  <a:tcPr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sz="1000">
                          <a:solidFill>
                            <a:srgbClr val="20252A"/>
                          </a:solidFill>
                          <a:latin typeface="Aptos"/>
                        </a:rPr>
                        <a:t>0.184</a:t>
                      </a:r>
                    </a:p>
                  </a:txBody>
                  <a:tcPr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sz="1000">
                          <a:solidFill>
                            <a:srgbClr val="20252A"/>
                          </a:solidFill>
                          <a:latin typeface="Aptos"/>
                        </a:rPr>
                        <a:t>3.348</a:t>
                      </a:r>
                    </a:p>
                  </a:txBody>
                  <a:tcPr>
                    <a:solidFill>
                      <a:srgbClr val="FFFFFF"/>
                    </a:solidFill>
                  </a:tcPr>
                </a:tc>
              </a:tr>
              <a:tr h="542108">
                <a:tc>
                  <a:txBody>
                    <a:bodyPr/>
                    <a:lstStyle/>
                    <a:p>
                      <a:pPr algn="ctr"/>
                      <a:r>
                        <a:rPr sz="1000">
                          <a:solidFill>
                            <a:srgbClr val="20252A"/>
                          </a:solidFill>
                          <a:latin typeface="Aptos"/>
                        </a:rPr>
                        <a:t>Relative time</a:t>
                      </a:r>
                    </a:p>
                  </a:txBody>
                  <a:tcPr>
                    <a:solidFill>
                      <a:srgbClr val="F1F4F7"/>
                    </a:solidFill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sz="1000">
                          <a:solidFill>
                            <a:srgbClr val="20252A"/>
                          </a:solidFill>
                          <a:latin typeface="Aptos"/>
                        </a:rPr>
                        <a:t>Mouse -&gt; zebrafish</a:t>
                      </a:r>
                    </a:p>
                  </a:txBody>
                  <a:tcPr>
                    <a:solidFill>
                      <a:srgbClr val="F1F4F7"/>
                    </a:solidFill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sz="1000">
                          <a:solidFill>
                            <a:srgbClr val="20252A"/>
                          </a:solidFill>
                          <a:latin typeface="Aptos"/>
                        </a:rPr>
                        <a:t>0.131</a:t>
                      </a:r>
                    </a:p>
                  </a:txBody>
                  <a:tcPr>
                    <a:solidFill>
                      <a:srgbClr val="F1F4F7"/>
                    </a:solidFill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sz="1000">
                          <a:solidFill>
                            <a:srgbClr val="20252A"/>
                          </a:solidFill>
                          <a:latin typeface="Aptos"/>
                        </a:rPr>
                        <a:t>3.325</a:t>
                      </a:r>
                    </a:p>
                  </a:txBody>
                  <a:tcPr>
                    <a:solidFill>
                      <a:srgbClr val="F1F4F7"/>
                    </a:solidFill>
                  </a:tcPr>
                </a:tc>
              </a:tr>
              <a:tr h="542108">
                <a:tc>
                  <a:txBody>
                    <a:bodyPr/>
                    <a:lstStyle/>
                    <a:p>
                      <a:pPr algn="ctr"/>
                      <a:r>
                        <a:rPr sz="1000">
                          <a:solidFill>
                            <a:srgbClr val="20252A"/>
                          </a:solidFill>
                          <a:latin typeface="Aptos"/>
                        </a:rPr>
                        <a:t>Relative time</a:t>
                      </a:r>
                    </a:p>
                  </a:txBody>
                  <a:tcPr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sz="1000">
                          <a:solidFill>
                            <a:srgbClr val="20252A"/>
                          </a:solidFill>
                          <a:latin typeface="Aptos"/>
                        </a:rPr>
                        <a:t>Zebrafish only</a:t>
                      </a:r>
                    </a:p>
                  </a:txBody>
                  <a:tcPr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sz="1000">
                          <a:solidFill>
                            <a:srgbClr val="20252A"/>
                          </a:solidFill>
                          <a:latin typeface="Aptos"/>
                        </a:rPr>
                        <a:t>0.157</a:t>
                      </a:r>
                    </a:p>
                  </a:txBody>
                  <a:tcPr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sz="1000">
                          <a:solidFill>
                            <a:srgbClr val="20252A"/>
                          </a:solidFill>
                          <a:latin typeface="Aptos"/>
                        </a:rPr>
                        <a:t>3.331</a:t>
                      </a:r>
                    </a:p>
                  </a:txBody>
                  <a:tcPr>
                    <a:solidFill>
                      <a:srgbClr val="FFFFFF"/>
                    </a:solidFill>
                  </a:tcPr>
                </a:tc>
              </a:tr>
              <a:tr h="542108">
                <a:tc>
                  <a:txBody>
                    <a:bodyPr/>
                    <a:lstStyle/>
                    <a:p>
                      <a:pPr algn="ctr"/>
                      <a:r>
                        <a:rPr sz="1000">
                          <a:solidFill>
                            <a:srgbClr val="20252A"/>
                          </a:solidFill>
                          <a:latin typeface="Aptos"/>
                        </a:rPr>
                        <a:t>Physical days</a:t>
                      </a:r>
                    </a:p>
                  </a:txBody>
                  <a:tcPr>
                    <a:solidFill>
                      <a:srgbClr val="F1F4F7"/>
                    </a:solidFill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sz="1000">
                          <a:solidFill>
                            <a:srgbClr val="20252A"/>
                          </a:solidFill>
                          <a:latin typeface="Aptos"/>
                        </a:rPr>
                        <a:t>Mouse zero-shot</a:t>
                      </a:r>
                    </a:p>
                  </a:txBody>
                  <a:tcPr>
                    <a:solidFill>
                      <a:srgbClr val="F1F4F7"/>
                    </a:solidFill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sz="1000">
                          <a:solidFill>
                            <a:srgbClr val="20252A"/>
                          </a:solidFill>
                          <a:latin typeface="Aptos"/>
                        </a:rPr>
                        <a:t>0.175</a:t>
                      </a:r>
                    </a:p>
                  </a:txBody>
                  <a:tcPr>
                    <a:solidFill>
                      <a:srgbClr val="F1F4F7"/>
                    </a:solidFill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sz="1000">
                          <a:solidFill>
                            <a:srgbClr val="20252A"/>
                          </a:solidFill>
                          <a:latin typeface="Aptos"/>
                        </a:rPr>
                        <a:t>3.337</a:t>
                      </a:r>
                    </a:p>
                  </a:txBody>
                  <a:tcPr>
                    <a:solidFill>
                      <a:srgbClr val="F1F4F7"/>
                    </a:solidFill>
                  </a:tcPr>
                </a:tc>
              </a:tr>
              <a:tr h="542108">
                <a:tc>
                  <a:txBody>
                    <a:bodyPr/>
                    <a:lstStyle/>
                    <a:p>
                      <a:pPr algn="ctr"/>
                      <a:r>
                        <a:rPr sz="1000">
                          <a:solidFill>
                            <a:srgbClr val="20252A"/>
                          </a:solidFill>
                          <a:latin typeface="Aptos"/>
                        </a:rPr>
                        <a:t>Physical days</a:t>
                      </a:r>
                    </a:p>
                  </a:txBody>
                  <a:tcPr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sz="1000">
                          <a:solidFill>
                            <a:srgbClr val="20252A"/>
                          </a:solidFill>
                          <a:latin typeface="Aptos"/>
                        </a:rPr>
                        <a:t>Mouse -&gt; zebrafish</a:t>
                      </a:r>
                    </a:p>
                  </a:txBody>
                  <a:tcPr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sz="1000">
                          <a:solidFill>
                            <a:srgbClr val="20252A"/>
                          </a:solidFill>
                          <a:latin typeface="Aptos"/>
                        </a:rPr>
                        <a:t>0.210</a:t>
                      </a:r>
                    </a:p>
                  </a:txBody>
                  <a:tcPr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sz="1000">
                          <a:solidFill>
                            <a:srgbClr val="20252A"/>
                          </a:solidFill>
                          <a:latin typeface="Aptos"/>
                        </a:rPr>
                        <a:t>3.351</a:t>
                      </a:r>
                    </a:p>
                  </a:txBody>
                  <a:tcPr>
                    <a:solidFill>
                      <a:srgbClr val="FFFFFF"/>
                    </a:solidFill>
                  </a:tcPr>
                </a:tc>
              </a:tr>
              <a:tr h="542112">
                <a:tc>
                  <a:txBody>
                    <a:bodyPr/>
                    <a:lstStyle/>
                    <a:p>
                      <a:pPr algn="ctr"/>
                      <a:r>
                        <a:rPr sz="1000">
                          <a:solidFill>
                            <a:srgbClr val="20252A"/>
                          </a:solidFill>
                          <a:latin typeface="Aptos"/>
                        </a:rPr>
                        <a:t>Physical days</a:t>
                      </a:r>
                    </a:p>
                  </a:txBody>
                  <a:tcPr>
                    <a:solidFill>
                      <a:srgbClr val="F1F4F7"/>
                    </a:solidFill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sz="1000">
                          <a:solidFill>
                            <a:srgbClr val="20252A"/>
                          </a:solidFill>
                          <a:latin typeface="Aptos"/>
                        </a:rPr>
                        <a:t>Zebrafish only</a:t>
                      </a:r>
                    </a:p>
                  </a:txBody>
                  <a:tcPr>
                    <a:solidFill>
                      <a:srgbClr val="F1F4F7"/>
                    </a:solidFill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sz="1000">
                          <a:solidFill>
                            <a:srgbClr val="20252A"/>
                          </a:solidFill>
                          <a:latin typeface="Aptos"/>
                        </a:rPr>
                        <a:t>0.297</a:t>
                      </a:r>
                    </a:p>
                  </a:txBody>
                  <a:tcPr>
                    <a:solidFill>
                      <a:srgbClr val="F1F4F7"/>
                    </a:solidFill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sz="1000">
                          <a:solidFill>
                            <a:srgbClr val="20252A"/>
                          </a:solidFill>
                          <a:latin typeface="Aptos"/>
                        </a:rPr>
                        <a:t>3.414</a:t>
                      </a:r>
                    </a:p>
                  </a:txBody>
                  <a:tcPr>
                    <a:solidFill>
                      <a:srgbClr val="F1F4F7"/>
                    </a:solidFill>
                  </a:tcPr>
                </a:tc>
              </a:tr>
            </a:tbl>
          </a:graphicData>
        </a:graphic>
      </p:graphicFrame>
      <p:sp>
        <p:nvSpPr>
          <p:cNvPr id="4" name="Rounded Rectangle 3"/>
          <p:cNvSpPr/>
          <p:nvPr/>
        </p:nvSpPr>
        <p:spPr>
          <a:xfrm>
            <a:off x="8001000" y="1234440"/>
            <a:ext cx="3108960" cy="914400"/>
          </a:xfrm>
          <a:prstGeom prst="roundRect">
            <a:avLst/>
          </a:prstGeom>
          <a:solidFill>
            <a:srgbClr val="E0F1E5"/>
          </a:solidFill>
          <a:ln w="13970">
            <a:solidFill>
              <a:srgbClr val="539A5D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lIns="73152" rIns="73152" tIns="54864" bIns="54864"/>
          <a:lstStyle/>
          <a:p>
            <a:pPr algn="ctr"/>
            <a:r>
              <a:rPr sz="1300" b="1">
                <a:solidFill>
                  <a:srgbClr val="20252A"/>
                </a:solidFill>
                <a:latin typeface="Aptos"/>
              </a:rPr>
              <a:t>Relative time: fine-tuning beats zero-shot and zebrafish-only among learned models</a:t>
            </a:r>
          </a:p>
        </p:txBody>
      </p:sp>
      <p:sp>
        <p:nvSpPr>
          <p:cNvPr id="5" name="Rounded Rectangle 4"/>
          <p:cNvSpPr/>
          <p:nvPr/>
        </p:nvSpPr>
        <p:spPr>
          <a:xfrm>
            <a:off x="8001000" y="2514600"/>
            <a:ext cx="3108960" cy="960120"/>
          </a:xfrm>
          <a:prstGeom prst="roundRect">
            <a:avLst/>
          </a:prstGeom>
          <a:solidFill>
            <a:srgbClr val="F9EECF"/>
          </a:solidFill>
          <a:ln w="13970">
            <a:solidFill>
              <a:srgbClr val="D69E2E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lIns="73152" rIns="73152" tIns="54864" bIns="54864"/>
          <a:lstStyle/>
          <a:p>
            <a:pPr algn="ctr"/>
            <a:r>
              <a:rPr sz="1300" b="1">
                <a:solidFill>
                  <a:srgbClr val="20252A"/>
                </a:solidFill>
                <a:latin typeface="Aptos"/>
              </a:rPr>
              <a:t>Physical days: zero-shot is the strongest learned model, suggesting transferred timing is useful</a:t>
            </a:r>
          </a:p>
        </p:txBody>
      </p:sp>
      <p:sp>
        <p:nvSpPr>
          <p:cNvPr id="6" name="Rounded Rectangle 5"/>
          <p:cNvSpPr/>
          <p:nvPr/>
        </p:nvSpPr>
        <p:spPr>
          <a:xfrm>
            <a:off x="8001000" y="3886200"/>
            <a:ext cx="3108960" cy="960120"/>
          </a:xfrm>
          <a:prstGeom prst="roundRect">
            <a:avLst/>
          </a:prstGeom>
          <a:solidFill>
            <a:srgbClr val="E1EBF7"/>
          </a:solidFill>
          <a:ln w="13970">
            <a:solidFill>
              <a:srgbClr val="3165A3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lIns="73152" rIns="73152" tIns="54864" bIns="54864"/>
          <a:lstStyle/>
          <a:p>
            <a:pPr algn="ctr"/>
            <a:r>
              <a:rPr sz="1300" b="1">
                <a:solidFill>
                  <a:srgbClr val="20252A"/>
                </a:solidFill>
                <a:latin typeface="Aptos"/>
              </a:rPr>
              <a:t>Zebrafish-only training is weaker than transfer-started models in both time coordinates</a:t>
            </a:r>
          </a:p>
        </p:txBody>
      </p:sp>
    </p:spTree>
  </p:cSld>
  <p:clrMapOvr>
    <a:masterClrMapping/>
  </p:clrMapOvr>
</p:sld>
</file>

<file path=ppt/slides/slide13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F8F9FA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2" name="TextBox 1"/>
          <p:cNvSpPr txBox="1"/>
          <p:nvPr/>
        </p:nvSpPr>
        <p:spPr>
          <a:xfrm>
            <a:off x="502920" y="237744"/>
            <a:ext cx="11155680" cy="438912"/>
          </a:xfrm>
          <a:prstGeom prst="rect">
            <a:avLst/>
          </a:prstGeom>
          <a:noFill/>
        </p:spPr>
        <p:txBody>
          <a:bodyPr wrap="none" lIns="36576" rIns="36576" tIns="18288" bIns="18288" anchor="t">
            <a:spAutoFit/>
          </a:bodyPr>
          <a:lstStyle/>
          <a:p>
            <a:pPr algn="l"/>
            <a:r>
              <a:rPr sz="2500" b="1">
                <a:solidFill>
                  <a:srgbClr val="20252A"/>
                </a:solidFill>
                <a:latin typeface="Aptos"/>
              </a:rPr>
              <a:t>Current picture: 10k improves conditional fit; causal UCE rollout is the required test</a:t>
            </a:r>
          </a:p>
        </p:txBody>
      </p:sp>
      <p:graphicFrame>
        <p:nvGraphicFramePr>
          <p:cNvPr id="3" name="Table 2"/>
          <p:cNvGraphicFramePr>
            <a:graphicFrameLocks noGrp="1"/>
          </p:cNvGraphicFramePr>
          <p:nvPr/>
        </p:nvGraphicFramePr>
        <p:xfrm>
          <a:off x="685800" y="1097280"/>
          <a:ext cx="10835640" cy="2514600"/>
        </p:xfrm>
        <a:graphic>
          <a:graphicData uri="http://schemas.openxmlformats.org/drawingml/2006/table">
            <a:tbl>
              <a:tblPr firstRow="1" bandRow="1">
                <a:tableStyleId>{5C22544A-7EE6-4342-B048-85BDC9FD1C3A}</a:tableStyleId>
              </a:tblPr>
              <a:tblGrid>
                <a:gridCol w="3611880"/>
                <a:gridCol w="3611880"/>
                <a:gridCol w="3611880"/>
              </a:tblGrid>
              <a:tr h="502920">
                <a:tc>
                  <a:txBody>
                    <a:bodyPr/>
                    <a:lstStyle/>
                    <a:p>
                      <a:pPr algn="ctr"/>
                      <a:r>
                        <a:rPr sz="1200" b="1">
                          <a:solidFill>
                            <a:srgbClr val="FFFFFF"/>
                          </a:solidFill>
                          <a:latin typeface="Aptos"/>
                        </a:rPr>
                        <a:t>Question</a:t>
                      </a:r>
                    </a:p>
                  </a:txBody>
                  <a:tcPr>
                    <a:solidFill>
                      <a:srgbClr val="3165A3"/>
                    </a:solidFill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sz="1200" b="1">
                          <a:solidFill>
                            <a:srgbClr val="FFFFFF"/>
                          </a:solidFill>
                          <a:latin typeface="Aptos"/>
                        </a:rPr>
                        <a:t>Result</a:t>
                      </a:r>
                    </a:p>
                  </a:txBody>
                  <a:tcPr>
                    <a:solidFill>
                      <a:srgbClr val="3165A3"/>
                    </a:solidFill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sz="1200" b="1">
                          <a:solidFill>
                            <a:srgbClr val="FFFFFF"/>
                          </a:solidFill>
                          <a:latin typeface="Aptos"/>
                        </a:rPr>
                        <a:t>Evidence</a:t>
                      </a:r>
                    </a:p>
                  </a:txBody>
                  <a:tcPr>
                    <a:solidFill>
                      <a:srgbClr val="3165A3"/>
                    </a:solidFill>
                  </a:tcPr>
                </a:tc>
              </a:tr>
              <a:tr h="502920">
                <a:tc>
                  <a:txBody>
                    <a:bodyPr/>
                    <a:lstStyle/>
                    <a:p>
                      <a:pPr algn="ctr"/>
                      <a:r>
                        <a:rPr sz="1200">
                          <a:solidFill>
                            <a:srgbClr val="20252A"/>
                          </a:solidFill>
                          <a:latin typeface="Aptos"/>
                        </a:rPr>
                        <a:t>Mouse panel size</a:t>
                      </a:r>
                    </a:p>
                  </a:txBody>
                  <a:tcPr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sz="1200">
                          <a:solidFill>
                            <a:srgbClr val="20252A"/>
                          </a:solidFill>
                          <a:latin typeface="Aptos"/>
                        </a:rPr>
                        <a:t>10k &gt; 5k</a:t>
                      </a:r>
                    </a:p>
                  </a:txBody>
                  <a:tcPr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sz="1200">
                          <a:solidFill>
                            <a:srgbClr val="20252A"/>
                          </a:solidFill>
                          <a:latin typeface="Aptos"/>
                        </a:rPr>
                        <a:t>Cross-attn improves legacy-panel loss at 10k</a:t>
                      </a:r>
                    </a:p>
                  </a:txBody>
                  <a:tcPr>
                    <a:solidFill>
                      <a:srgbClr val="FFFFFF"/>
                    </a:solidFill>
                  </a:tcPr>
                </a:tc>
              </a:tr>
              <a:tr h="502920">
                <a:tc>
                  <a:txBody>
                    <a:bodyPr/>
                    <a:lstStyle/>
                    <a:p>
                      <a:pPr algn="ctr"/>
                      <a:r>
                        <a:rPr sz="1200">
                          <a:solidFill>
                            <a:srgbClr val="20252A"/>
                          </a:solidFill>
                          <a:latin typeface="Aptos"/>
                        </a:rPr>
                        <a:t>State representation</a:t>
                      </a:r>
                    </a:p>
                  </a:txBody>
                  <a:tcPr>
                    <a:solidFill>
                      <a:srgbClr val="F1F4F7"/>
                    </a:solidFill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sz="1200">
                          <a:solidFill>
                            <a:srgbClr val="20252A"/>
                          </a:solidFill>
                          <a:latin typeface="Aptos"/>
                        </a:rPr>
                        <a:t>Legacy UCE fit improves</a:t>
                      </a:r>
                    </a:p>
                  </a:txBody>
                  <a:tcPr>
                    <a:solidFill>
                      <a:srgbClr val="F1F4F7"/>
                    </a:solidFill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sz="1200">
                          <a:solidFill>
                            <a:srgbClr val="20252A"/>
                          </a:solidFill>
                          <a:latin typeface="Aptos"/>
                        </a:rPr>
                        <a:t>Forecasting claim requires online UCE rollout</a:t>
                      </a:r>
                    </a:p>
                  </a:txBody>
                  <a:tcPr>
                    <a:solidFill>
                      <a:srgbClr val="F1F4F7"/>
                    </a:solidFill>
                  </a:tcPr>
                </a:tc>
              </a:tr>
              <a:tr h="502920">
                <a:tc>
                  <a:txBody>
                    <a:bodyPr/>
                    <a:lstStyle/>
                    <a:p>
                      <a:pPr algn="ctr"/>
                      <a:r>
                        <a:rPr sz="1200">
                          <a:solidFill>
                            <a:srgbClr val="20252A"/>
                          </a:solidFill>
                          <a:latin typeface="Aptos"/>
                        </a:rPr>
                        <a:t>Sequence conditioning</a:t>
                      </a:r>
                    </a:p>
                  </a:txBody>
                  <a:tcPr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sz="1200">
                          <a:solidFill>
                            <a:srgbClr val="20252A"/>
                          </a:solidFill>
                          <a:latin typeface="Aptos"/>
                        </a:rPr>
                        <a:t>Useful but not automatic</a:t>
                      </a:r>
                    </a:p>
                  </a:txBody>
                  <a:tcPr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sz="1200">
                          <a:solidFill>
                            <a:srgbClr val="20252A"/>
                          </a:solidFill>
                          <a:latin typeface="Aptos"/>
                        </a:rPr>
                        <a:t>CFM remains a strong baseline</a:t>
                      </a:r>
                    </a:p>
                  </a:txBody>
                  <a:tcPr>
                    <a:solidFill>
                      <a:srgbClr val="FFFFFF"/>
                    </a:solidFill>
                  </a:tcPr>
                </a:tc>
              </a:tr>
              <a:tr h="502920">
                <a:tc>
                  <a:txBody>
                    <a:bodyPr/>
                    <a:lstStyle/>
                    <a:p>
                      <a:pPr algn="ctr"/>
                      <a:r>
                        <a:rPr sz="1200">
                          <a:solidFill>
                            <a:srgbClr val="20252A"/>
                          </a:solidFill>
                          <a:latin typeface="Aptos"/>
                        </a:rPr>
                        <a:t>Cross-species</a:t>
                      </a:r>
                    </a:p>
                  </a:txBody>
                  <a:tcPr>
                    <a:solidFill>
                      <a:srgbClr val="F1F4F7"/>
                    </a:solidFill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sz="1200">
                          <a:solidFill>
                            <a:srgbClr val="20252A"/>
                          </a:solidFill>
                          <a:latin typeface="Aptos"/>
                        </a:rPr>
                        <a:t>Transfer signal appears</a:t>
                      </a:r>
                    </a:p>
                  </a:txBody>
                  <a:tcPr>
                    <a:solidFill>
                      <a:srgbClr val="F1F4F7"/>
                    </a:solidFill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sz="1200">
                          <a:solidFill>
                            <a:srgbClr val="20252A"/>
                          </a:solidFill>
                          <a:latin typeface="Aptos"/>
                        </a:rPr>
                        <a:t>Fine-tuning helps in relative time</a:t>
                      </a:r>
                    </a:p>
                  </a:txBody>
                  <a:tcPr>
                    <a:solidFill>
                      <a:srgbClr val="F1F4F7"/>
                    </a:solidFill>
                  </a:tcPr>
                </a:tc>
              </a:tr>
            </a:tbl>
          </a:graphicData>
        </a:graphic>
      </p:graphicFrame>
      <p:sp>
        <p:nvSpPr>
          <p:cNvPr id="4" name="Rounded Rectangle 3"/>
          <p:cNvSpPr/>
          <p:nvPr/>
        </p:nvSpPr>
        <p:spPr>
          <a:xfrm>
            <a:off x="868680" y="4206240"/>
            <a:ext cx="1920240" cy="502920"/>
          </a:xfrm>
          <a:prstGeom prst="roundRect">
            <a:avLst/>
          </a:prstGeom>
          <a:solidFill>
            <a:srgbClr val="E1EBF7"/>
          </a:solidFill>
          <a:ln w="13970">
            <a:solidFill>
              <a:srgbClr val="3165A3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lIns="73152" rIns="73152" tIns="54864" bIns="54864"/>
          <a:lstStyle/>
          <a:p>
            <a:pPr algn="ctr"/>
            <a:r>
              <a:rPr sz="1300" b="1">
                <a:solidFill>
                  <a:srgbClr val="20252A"/>
                </a:solidFill>
                <a:latin typeface="Aptos"/>
              </a:rPr>
              <a:t>Next experiments</a:t>
            </a:r>
          </a:p>
        </p:txBody>
      </p:sp>
      <p:sp>
        <p:nvSpPr>
          <p:cNvPr id="5" name="Rounded Rectangle 4"/>
          <p:cNvSpPr/>
          <p:nvPr/>
        </p:nvSpPr>
        <p:spPr>
          <a:xfrm>
            <a:off x="2971800" y="4206240"/>
            <a:ext cx="2331720" cy="658368"/>
          </a:xfrm>
          <a:prstGeom prst="roundRect">
            <a:avLst/>
          </a:prstGeom>
          <a:solidFill>
            <a:srgbClr val="FFFFFF"/>
          </a:solidFill>
          <a:ln w="13970">
            <a:solidFill>
              <a:srgbClr val="D69E2E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lIns="73152" rIns="73152" tIns="54864" bIns="54864"/>
          <a:lstStyle/>
          <a:p>
            <a:pPr algn="ctr"/>
            <a:r>
              <a:rPr sz="1200" b="1">
                <a:solidFill>
                  <a:srgbClr val="20252A"/>
                </a:solidFill>
                <a:latin typeface="Aptos"/>
              </a:rPr>
              <a:t>sequence embedding calibrated for zebrafish</a:t>
            </a:r>
          </a:p>
        </p:txBody>
      </p:sp>
      <p:sp>
        <p:nvSpPr>
          <p:cNvPr id="6" name="Rounded Rectangle 5"/>
          <p:cNvSpPr/>
          <p:nvPr/>
        </p:nvSpPr>
        <p:spPr>
          <a:xfrm>
            <a:off x="5532120" y="4206240"/>
            <a:ext cx="2331720" cy="658368"/>
          </a:xfrm>
          <a:prstGeom prst="roundRect">
            <a:avLst/>
          </a:prstGeom>
          <a:solidFill>
            <a:srgbClr val="FFFFFF"/>
          </a:solidFill>
          <a:ln w="13970">
            <a:solidFill>
              <a:srgbClr val="539A5D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lIns="73152" rIns="73152" tIns="54864" bIns="54864"/>
          <a:lstStyle/>
          <a:p>
            <a:pPr algn="ctr"/>
            <a:r>
              <a:rPr sz="1200" b="1">
                <a:solidFill>
                  <a:srgbClr val="20252A"/>
                </a:solidFill>
                <a:latin typeface="Aptos"/>
              </a:rPr>
              <a:t>stage-aware or time-conditioned transfer</a:t>
            </a:r>
          </a:p>
        </p:txBody>
      </p:sp>
      <p:sp>
        <p:nvSpPr>
          <p:cNvPr id="7" name="Rounded Rectangle 6"/>
          <p:cNvSpPr/>
          <p:nvPr/>
        </p:nvSpPr>
        <p:spPr>
          <a:xfrm>
            <a:off x="8092440" y="4206240"/>
            <a:ext cx="2331720" cy="658368"/>
          </a:xfrm>
          <a:prstGeom prst="roundRect">
            <a:avLst/>
          </a:prstGeom>
          <a:solidFill>
            <a:srgbClr val="FFFFFF"/>
          </a:solidFill>
          <a:ln w="13970">
            <a:solidFill>
              <a:srgbClr val="705DB4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lIns="73152" rIns="73152" tIns="54864" bIns="54864"/>
          <a:lstStyle/>
          <a:p>
            <a:pPr algn="ctr"/>
            <a:r>
              <a:rPr sz="1200" b="1">
                <a:solidFill>
                  <a:srgbClr val="20252A"/>
                </a:solidFill>
                <a:latin typeface="Aptos"/>
              </a:rPr>
              <a:t>rollout metrics beyond short displacement</a:t>
            </a:r>
          </a:p>
        </p:txBody>
      </p:sp>
      <p:sp>
        <p:nvSpPr>
          <p:cNvPr id="8" name="TextBox 7"/>
          <p:cNvSpPr txBox="1"/>
          <p:nvPr/>
        </p:nvSpPr>
        <p:spPr>
          <a:xfrm>
            <a:off x="960120" y="5669280"/>
            <a:ext cx="10241280" cy="411480"/>
          </a:xfrm>
          <a:prstGeom prst="rect">
            <a:avLst/>
          </a:prstGeom>
          <a:noFill/>
        </p:spPr>
        <p:txBody>
          <a:bodyPr wrap="none" lIns="36576" rIns="36576" tIns="18288" bIns="18288" anchor="t">
            <a:spAutoFit/>
          </a:bodyPr>
          <a:lstStyle/>
          <a:p>
            <a:pPr algn="ctr"/>
            <a:r>
              <a:rPr sz="1600" b="1">
                <a:solidFill>
                  <a:srgbClr val="20252A"/>
                </a:solidFill>
                <a:latin typeface="Aptos"/>
              </a:rPr>
              <a:t>Main result: 10k genes improve conditional fit; endpoint transport is now evaluated without destination leakage.</a:t>
            </a:r>
          </a:p>
        </p:txBody>
      </p:sp>
    </p:spTree>
  </p:cSld>
  <p:clrMapOvr>
    <a:masterClrMapping/>
  </p:clrMapOvr>
</p:sld>
</file>

<file path=ppt/slides/slide14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F8F9FA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2" name="TextBox 1"/>
          <p:cNvSpPr txBox="1"/>
          <p:nvPr/>
        </p:nvSpPr>
        <p:spPr>
          <a:xfrm>
            <a:off x="502920" y="237744"/>
            <a:ext cx="11155680" cy="438912"/>
          </a:xfrm>
          <a:prstGeom prst="rect">
            <a:avLst/>
          </a:prstGeom>
          <a:noFill/>
        </p:spPr>
        <p:txBody>
          <a:bodyPr wrap="none" lIns="36576" rIns="36576" tIns="18288" bIns="18288" anchor="t">
            <a:spAutoFit/>
          </a:bodyPr>
          <a:lstStyle/>
          <a:p>
            <a:pPr algn="l"/>
            <a:r>
              <a:rPr sz="2500" b="1">
                <a:solidFill>
                  <a:srgbClr val="20252A"/>
                </a:solidFill>
                <a:latin typeface="Aptos"/>
              </a:rPr>
              <a:t>References anchor the flow-matching, cell-embedding, sequence, and zebrafish components</a:t>
            </a:r>
          </a:p>
        </p:txBody>
      </p:sp>
      <p:graphicFrame>
        <p:nvGraphicFramePr>
          <p:cNvPr id="3" name="Table 2"/>
          <p:cNvGraphicFramePr>
            <a:graphicFrameLocks noGrp="1"/>
          </p:cNvGraphicFramePr>
          <p:nvPr/>
        </p:nvGraphicFramePr>
        <p:xfrm>
          <a:off x="594360" y="1051560"/>
          <a:ext cx="10972800" cy="3063240"/>
        </p:xfrm>
        <a:graphic>
          <a:graphicData uri="http://schemas.openxmlformats.org/drawingml/2006/table">
            <a:tbl>
              <a:tblPr firstRow="1" bandRow="1">
                <a:tableStyleId>{5C22544A-7EE6-4342-B048-85BDC9FD1C3A}</a:tableStyleId>
              </a:tblPr>
              <a:tblGrid>
                <a:gridCol w="5486400"/>
                <a:gridCol w="5486400"/>
              </a:tblGrid>
              <a:tr h="510540">
                <a:tc>
                  <a:txBody>
                    <a:bodyPr/>
                    <a:lstStyle/>
                    <a:p>
                      <a:pPr algn="ctr"/>
                      <a:r>
                        <a:rPr sz="1000" b="1">
                          <a:solidFill>
                            <a:srgbClr val="FFFFFF"/>
                          </a:solidFill>
                          <a:latin typeface="Aptos"/>
                        </a:rPr>
                        <a:t>Component</a:t>
                      </a:r>
                    </a:p>
                  </a:txBody>
                  <a:tcPr>
                    <a:solidFill>
                      <a:srgbClr val="3165A3"/>
                    </a:solidFill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sz="1000" b="1">
                          <a:solidFill>
                            <a:srgbClr val="FFFFFF"/>
                          </a:solidFill>
                          <a:latin typeface="Aptos"/>
                        </a:rPr>
                        <a:t>Reference</a:t>
                      </a:r>
                    </a:p>
                  </a:txBody>
                  <a:tcPr>
                    <a:solidFill>
                      <a:srgbClr val="3165A3"/>
                    </a:solidFill>
                  </a:tcPr>
                </a:tc>
              </a:tr>
              <a:tr h="510540">
                <a:tc>
                  <a:txBody>
                    <a:bodyPr/>
                    <a:lstStyle/>
                    <a:p>
                      <a:pPr algn="ctr"/>
                      <a:r>
                        <a:rPr sz="1000">
                          <a:solidFill>
                            <a:srgbClr val="20252A"/>
                          </a:solidFill>
                          <a:latin typeface="Aptos"/>
                        </a:rPr>
                        <a:t>Conditional Flow Matching</a:t>
                      </a:r>
                    </a:p>
                  </a:txBody>
                  <a:tcPr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sz="1000">
                          <a:solidFill>
                            <a:srgbClr val="20252A"/>
                          </a:solidFill>
                          <a:latin typeface="Aptos"/>
                        </a:rPr>
                        <a:t>Lipman et al., Flow Matching for Generative Modeling, ICLR 2023 / arXiv:2210.02747</a:t>
                      </a:r>
                    </a:p>
                  </a:txBody>
                  <a:tcPr>
                    <a:solidFill>
                      <a:srgbClr val="FFFFFF"/>
                    </a:solidFill>
                  </a:tcPr>
                </a:tc>
              </a:tr>
              <a:tr h="510540">
                <a:tc>
                  <a:txBody>
                    <a:bodyPr/>
                    <a:lstStyle/>
                    <a:p>
                      <a:pPr algn="ctr"/>
                      <a:r>
                        <a:rPr sz="1000">
                          <a:solidFill>
                            <a:srgbClr val="20252A"/>
                          </a:solidFill>
                          <a:latin typeface="Aptos"/>
                        </a:rPr>
                        <a:t>UCE cell state</a:t>
                      </a:r>
                    </a:p>
                  </a:txBody>
                  <a:tcPr>
                    <a:solidFill>
                      <a:srgbClr val="F1F4F7"/>
                    </a:solidFill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sz="1000">
                          <a:solidFill>
                            <a:srgbClr val="20252A"/>
                          </a:solidFill>
                          <a:latin typeface="Aptos"/>
                        </a:rPr>
                        <a:t>Rosen et al., Universal cell embeddings provide a foundation model for cell biology, Nature 2026</a:t>
                      </a:r>
                    </a:p>
                  </a:txBody>
                  <a:tcPr>
                    <a:solidFill>
                      <a:srgbClr val="F1F4F7"/>
                    </a:solidFill>
                  </a:tcPr>
                </a:tc>
              </a:tr>
              <a:tr h="510540">
                <a:tc>
                  <a:txBody>
                    <a:bodyPr/>
                    <a:lstStyle/>
                    <a:p>
                      <a:pPr algn="ctr"/>
                      <a:r>
                        <a:rPr sz="1000">
                          <a:solidFill>
                            <a:srgbClr val="20252A"/>
                          </a:solidFill>
                          <a:latin typeface="Aptos"/>
                        </a:rPr>
                        <a:t>Sequence embeddings</a:t>
                      </a:r>
                    </a:p>
                  </a:txBody>
                  <a:tcPr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sz="1000">
                          <a:solidFill>
                            <a:srgbClr val="20252A"/>
                          </a:solidFill>
                          <a:latin typeface="Aptos"/>
                        </a:rPr>
                        <a:t>Avsec et al., Advancing regulatory variant effect prediction with AlphaGenome, Nature, doi:10.1038/s41586-025-10014-0</a:t>
                      </a:r>
                    </a:p>
                  </a:txBody>
                  <a:tcPr>
                    <a:solidFill>
                      <a:srgbClr val="FFFFFF"/>
                    </a:solidFill>
                  </a:tcPr>
                </a:tc>
              </a:tr>
              <a:tr h="510540">
                <a:tc>
                  <a:txBody>
                    <a:bodyPr/>
                    <a:lstStyle/>
                    <a:p>
                      <a:pPr algn="ctr"/>
                      <a:r>
                        <a:rPr sz="1000">
                          <a:solidFill>
                            <a:srgbClr val="20252A"/>
                          </a:solidFill>
                          <a:latin typeface="Aptos"/>
                        </a:rPr>
                        <a:t>ZSCAPE atlas</a:t>
                      </a:r>
                    </a:p>
                  </a:txBody>
                  <a:tcPr>
                    <a:solidFill>
                      <a:srgbClr val="F1F4F7"/>
                    </a:solidFill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sz="1000">
                          <a:solidFill>
                            <a:srgbClr val="20252A"/>
                          </a:solidFill>
                          <a:latin typeface="Aptos"/>
                        </a:rPr>
                        <a:t>Saunders et al., Embryo-scale reverse genetics at single-cell resolution, Nature 2023</a:t>
                      </a:r>
                    </a:p>
                  </a:txBody>
                  <a:tcPr>
                    <a:solidFill>
                      <a:srgbClr val="F1F4F7"/>
                    </a:solidFill>
                  </a:tcPr>
                </a:tc>
              </a:tr>
              <a:tr h="510540">
                <a:tc>
                  <a:txBody>
                    <a:bodyPr/>
                    <a:lstStyle/>
                    <a:p>
                      <a:pPr algn="ctr"/>
                      <a:r>
                        <a:rPr sz="1000">
                          <a:solidFill>
                            <a:srgbClr val="20252A"/>
                          </a:solidFill>
                          <a:latin typeface="Aptos"/>
                        </a:rPr>
                        <a:t>STREAM figures</a:t>
                      </a:r>
                    </a:p>
                  </a:txBody>
                  <a:tcPr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sz="1000">
                          <a:solidFill>
                            <a:srgbClr val="20252A"/>
                          </a:solidFill>
                          <a:latin typeface="Aptos"/>
                        </a:rPr>
                        <a:t>Generated from project outputs: atlas UMAP, held-out CFM metrics, UCE ablations, and transfer evaluations</a:t>
                      </a:r>
                    </a:p>
                  </a:txBody>
                  <a:tcPr>
                    <a:solidFill>
                      <a:srgbClr val="FFFFFF"/>
                    </a:solidFill>
                  </a:tcPr>
                </a:tc>
              </a:tr>
            </a:tbl>
          </a:graphicData>
        </a:graphic>
      </p:graphicFrame>
      <p:sp>
        <p:nvSpPr>
          <p:cNvPr id="4" name="Rounded Rectangle 3"/>
          <p:cNvSpPr/>
          <p:nvPr/>
        </p:nvSpPr>
        <p:spPr>
          <a:xfrm>
            <a:off x="1097280" y="4800600"/>
            <a:ext cx="9966960" cy="777240"/>
          </a:xfrm>
          <a:prstGeom prst="roundRect">
            <a:avLst/>
          </a:prstGeom>
          <a:solidFill>
            <a:srgbClr val="E1EBF7"/>
          </a:solidFill>
          <a:ln w="13970">
            <a:solidFill>
              <a:srgbClr val="3165A3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lIns="73152" rIns="73152" tIns="54864" bIns="54864"/>
          <a:lstStyle/>
          <a:p>
            <a:pPr algn="ctr"/>
            <a:r>
              <a:rPr sz="1300" b="1">
                <a:solidFill>
                  <a:srgbClr val="20252A"/>
                </a:solidFill>
                <a:latin typeface="Aptos"/>
              </a:rPr>
              <a:t>Displayed plots and diagrams are generated from this repository's analysis outputs or drawn schematically in the deck builder.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1097280" y="5779008"/>
            <a:ext cx="9966960" cy="320040"/>
          </a:xfrm>
          <a:prstGeom prst="rect">
            <a:avLst/>
          </a:prstGeom>
          <a:noFill/>
        </p:spPr>
        <p:txBody>
          <a:bodyPr wrap="none" lIns="36576" rIns="36576" tIns="18288" bIns="18288" anchor="t">
            <a:spAutoFit/>
          </a:bodyPr>
          <a:lstStyle/>
          <a:p>
            <a:pPr algn="ctr"/>
            <a:r>
              <a:rPr sz="1200" b="0">
                <a:solidFill>
                  <a:srgbClr val="5C6773"/>
                </a:solidFill>
                <a:latin typeface="Aptos"/>
              </a:rPr>
              <a:t>The deck is reproducible from the slide builder script and current result CSV/PNG artifacts.</a:t>
            </a:r>
          </a:p>
        </p:txBody>
      </p:sp>
    </p:spTree>
  </p:cSld>
  <p:clrMapOvr>
    <a:masterClrMapping/>
  </p:clrMapOvr>
</p:sld>
</file>

<file path=ppt/theme/theme1.xml><?xml version="1.0" encoding="utf-8"?>
<a:theme xmlns:a="http://schemas.openxmlformats.org/drawingml/2006/main" name="Office Theme">
  <a:themeElements>
    <a:clrScheme name="Office">
      <a:dk1>
        <a:sysClr val="windowText" lastClr="000000"/>
      </a:dk1>
      <a:lt1>
        <a:sysClr val="window" lastClr="FFFFFF"/>
      </a:lt1>
      <a:dk2>
        <a:srgbClr val="1F497D"/>
      </a:dk2>
      <a:lt2>
        <a:srgbClr val="EEECE1"/>
      </a:lt2>
      <a:accent1>
        <a:srgbClr val="4F81BD"/>
      </a:accent1>
      <a:accent2>
        <a:srgbClr val="C0504D"/>
      </a:accent2>
      <a:accent3>
        <a:srgbClr val="9BBB59"/>
      </a:accent3>
      <a:accent4>
        <a:srgbClr val="8064A2"/>
      </a:accent4>
      <a:accent5>
        <a:srgbClr val="4BACC6"/>
      </a:accent5>
      <a:accent6>
        <a:srgbClr val="F79646"/>
      </a:accent6>
      <a:hlink>
        <a:srgbClr val="0000FF"/>
      </a:hlink>
      <a:folHlink>
        <a:srgbClr val="800080"/>
      </a:folHlink>
    </a:clrScheme>
    <a:fontScheme name="Office">
      <a:majorFont>
        <a:latin typeface="Calibri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  <a:font script="Geor" typeface="Sylfaen"/>
      </a:majorFont>
      <a:minorFont>
        <a:latin typeface="Calibri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  <a:font script="Geor" typeface="Sylfaen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tint val="50000"/>
                <a:satMod val="300000"/>
              </a:schemeClr>
            </a:gs>
            <a:gs pos="35000">
              <a:schemeClr val="phClr">
                <a:tint val="37000"/>
                <a:satMod val="300000"/>
              </a:schemeClr>
            </a:gs>
            <a:gs pos="100000">
              <a:schemeClr val="phClr">
                <a:tint val="15000"/>
                <a:satMod val="350000"/>
              </a:schemeClr>
            </a:gs>
          </a:gsLst>
          <a:lin ang="16200000" scaled="1"/>
        </a:gradFill>
        <a:gradFill rotWithShape="1">
          <a:gsLst>
            <a:gs pos="0">
              <a:schemeClr val="phClr">
                <a:tint val="100000"/>
                <a:shade val="100000"/>
                <a:satMod val="130000"/>
              </a:schemeClr>
            </a:gs>
            <a:gs pos="100000">
              <a:schemeClr val="phClr">
                <a:tint val="50000"/>
                <a:shade val="100000"/>
                <a:satMod val="350000"/>
              </a:schemeClr>
            </a:gs>
          </a:gsLst>
          <a:lin ang="16200000" scaled="0"/>
        </a:gradFill>
      </a:fillStyleLst>
      <a:lnStyleLst>
        <a:ln w="9525" cap="flat" cmpd="sng" algn="ctr">
          <a:solidFill>
            <a:schemeClr val="phClr">
              <a:shade val="95000"/>
              <a:satMod val="105000"/>
            </a:schemeClr>
          </a:solidFill>
          <a:prstDash val="solid"/>
        </a:ln>
        <a:ln w="25400" cap="flat" cmpd="sng" algn="ctr">
          <a:solidFill>
            <a:schemeClr val="phClr"/>
          </a:solidFill>
          <a:prstDash val="solid"/>
        </a:ln>
        <a:ln w="38100" cap="flat" cmpd="sng" algn="ctr">
          <a:solidFill>
            <a:schemeClr val="phClr"/>
          </a:solidFill>
          <a:prstDash val="solid"/>
        </a:ln>
      </a:lnStyleLst>
      <a:effectStyleLst>
        <a:effectStyle>
          <a:effectLst>
            <a:outerShdw blurRad="40000" dist="20000" dir="5400000" rotWithShape="0">
              <a:srgbClr val="000000">
                <a:alpha val="38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  <a:scene3d>
            <a:camera prst="orthographicFront">
              <a:rot lat="0" lon="0" rev="0"/>
            </a:camera>
            <a:lightRig rig="threePt" dir="t">
              <a:rot lat="0" lon="0" rev="1200000"/>
            </a:lightRig>
          </a:scene3d>
          <a:sp3d>
            <a:bevelT w="63500" h="25400"/>
          </a:sp3d>
        </a:effectStyle>
      </a:effectStyleLst>
      <a:bgFillStyleLst>
        <a:solidFill>
          <a:schemeClr val="phClr"/>
        </a:solidFill>
        <a:gradFill rotWithShape="1">
          <a:gsLst>
            <a:gs pos="0">
              <a:schemeClr val="phClr">
                <a:tint val="40000"/>
                <a:satMod val="350000"/>
              </a:schemeClr>
            </a:gs>
            <a:gs pos="40000">
              <a:schemeClr val="phClr">
                <a:tint val="45000"/>
                <a:shade val="99000"/>
                <a:satMod val="350000"/>
              </a:schemeClr>
            </a:gs>
            <a:gs pos="100000">
              <a:schemeClr val="phClr">
                <a:shade val="20000"/>
                <a:satMod val="255000"/>
              </a:schemeClr>
            </a:gs>
          </a:gsLst>
          <a:path path="circle">
            <a:fillToRect l="50000" t="-80000" r="50000" b="180000"/>
          </a:path>
        </a:gradFill>
        <a:gradFill rotWithShape="1">
          <a:gsLst>
            <a:gs pos="0">
              <a:schemeClr val="phClr">
                <a:tint val="80000"/>
                <a:satMod val="300000"/>
              </a:schemeClr>
            </a:gs>
            <a:gs pos="100000">
              <a:schemeClr val="phClr">
                <a:shade val="30000"/>
                <a:satMod val="200000"/>
              </a:schemeClr>
            </a:gs>
          </a:gsLst>
          <a:path path="circle">
            <a:fillToRect l="50000" t="50000" r="50000" b="50000"/>
          </a:path>
        </a:gradFill>
      </a:bgFillStyleLst>
    </a:fmtScheme>
  </a:themeElements>
  <a:objectDefaults>
    <a:spDef>
      <a:spPr/>
      <a:bodyPr/>
      <a:lstStyle/>
      <a:style>
        <a:lnRef idx="1">
          <a:schemeClr val="accent1"/>
        </a:lnRef>
        <a:fillRef idx="3">
          <a:schemeClr val="accent1"/>
        </a:fillRef>
        <a:effectRef idx="2">
          <a:schemeClr val="accent1"/>
        </a:effectRef>
        <a:fontRef idx="minor">
          <a:schemeClr val="lt1"/>
        </a:fontRef>
      </a:style>
    </a:spDef>
    <a:lnDef>
      <a:spPr/>
      <a:bodyPr/>
      <a:lstStyle/>
      <a:style>
        <a:lnRef idx="2">
          <a:schemeClr val="accent1"/>
        </a:lnRef>
        <a:fillRef idx="0">
          <a:schemeClr val="accent1"/>
        </a:fillRef>
        <a:effectRef idx="1">
          <a:schemeClr val="accent1"/>
        </a:effectRef>
        <a:fontRef idx="minor">
          <a:schemeClr val="tx1"/>
        </a:fontRef>
      </a:style>
    </a:lnDef>
  </a:objectDefaults>
  <a:extraClrSchemeLst/>
</a:theme>
</file>

<file path=docProps/app.xml><?xml version="1.0" encoding="utf-8"?>
<Properties xmlns="http://schemas.openxmlformats.org/officeDocument/2006/extended-properties" xmlns:vt="http://schemas.openxmlformats.org/officeDocument/2006/docPropsVTypes">
  <TotalTime>1</TotalTime>
  <Words>0</Words>
  <Application>Microsoft Macintosh PowerPoint</Application>
  <PresentationFormat>On-screen Show (4:3)</PresentationFormat>
  <Paragraphs>0</Paragraphs>
  <Slides>0</Slides>
  <Notes>0</Notes>
  <HiddenSlides>0</HiddenSlides>
  <MMClips>0</MMClips>
  <ScaleCrop>false</ScaleCrop>
  <HeadingPairs>
    <vt:vector size="4" baseType="variant">
      <vt:variant>
        <vt:lpstr>Theme</vt:lpstr>
      </vt:variant>
      <vt:variant>
        <vt:i4>1</vt:i4>
      </vt:variant>
      <vt:variant>
        <vt:lpstr>Slide Titles</vt:lpstr>
      </vt:variant>
      <vt:variant>
        <vt:i4>0</vt:i4>
      </vt:variant>
    </vt:vector>
  </HeadingPairs>
  <TitlesOfParts>
    <vt:vector size="1" baseType="lpstr">
      <vt:lpstr>Office Theme</vt:lpstr>
    </vt:vector>
  </TitlesOfParts>
  <Manager/>
  <Company/>
  <LinksUpToDate>false</LinksUpToDate>
  <SharedDoc>false</SharedDoc>
  <HyperlinkBase/>
  <HyperlinksChanged>false</HyperlinksChanged>
  <AppVersion>14.0000</AppVersion>
</Properties>
</file>

<file path=docProps/core.xml><?xml version="1.0" encoding="utf-8"?>
<cp:coreProperties xmlns:cp="http://schemas.openxmlformats.org/package/2006/metadata/core-properties" xmlns:dc="http://purl.org/dc/elements/1.1/" xmlns:dcterms="http://purl.org/dc/terms/" xmlns:dcmitype="http://purl.org/dc/dcmitype/" xmlns:xsi="http://www.w3.org/2001/XMLSchema-instance">
  <dc:title/>
  <dc:subject/>
  <dc:creator/>
  <cp:keywords/>
  <dc:description>generated using python-pptx</dc:description>
  <cp:lastModifiedBy>Steve Canny</cp:lastModifiedBy>
  <cp:revision>1</cp:revision>
  <dcterms:created xsi:type="dcterms:W3CDTF">2013-01-27T09:14:16Z</dcterms:created>
  <dcterms:modified xsi:type="dcterms:W3CDTF">2013-01-27T09:15:58Z</dcterms:modified>
  <cp:category/>
</cp:coreProperties>
</file>